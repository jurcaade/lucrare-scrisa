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72" r:id="rId3"/>
    <p:sldId id="257" r:id="rId4"/>
    <p:sldId id="259" r:id="rId5"/>
    <p:sldId id="262" r:id="rId6"/>
    <p:sldId id="263" r:id="rId7"/>
    <p:sldId id="265" r:id="rId8"/>
    <p:sldId id="267" r:id="rId9"/>
    <p:sldId id="264" r:id="rId10"/>
    <p:sldId id="270" r:id="rId11"/>
    <p:sldId id="271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2430"/>
    <a:srgbClr val="00145E"/>
    <a:srgbClr val="123B68"/>
    <a:srgbClr val="F6FBFF"/>
    <a:srgbClr val="F28B2E"/>
    <a:srgbClr val="E66B2E"/>
    <a:srgbClr val="B1832F"/>
    <a:srgbClr val="9463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A4B6A0-93E5-47C1-8D2D-3D79480FAF05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2EA6D0-291C-4ED2-997F-425D8F8C54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8056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418EA-9FE7-81BA-D0DA-E5FFF7022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0AE949-F89F-A4C9-C12E-D8BFA32B72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463C36-6280-A4A7-98D2-9A4C86E39C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5682CE-781B-FC15-0628-73077D045B1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701056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04B56-A8A6-F6B8-3418-D1E1AB5A1B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102903-0C77-9D3F-0D26-D504F17105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B2828-4539-5489-94C1-88159889E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42069-B871-4D3C-9A76-CCDB85C53523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24E70C-0900-4624-663B-1D3BCD00B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84F8A-81FD-4561-B762-70201AAA4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2A710-D338-400E-80C3-2F1ED6D6DAF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2317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4242D-8F1C-1915-1345-18D15F29F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7A8F3-0B48-9E41-81AE-4FB2BBD4B2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5C701-3BBC-6592-FAA5-D3A9A29A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42069-B871-4D3C-9A76-CCDB85C53523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0E2D9-3C73-433D-B5A8-59BED017C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C171F-2333-F1CB-2F7C-90E52B79E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2A710-D338-400E-80C3-2F1ED6D6DAF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0968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EAB8E-1256-09E1-8456-D5A5B6D36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7177C2-F674-4E98-B8A3-13F4BD4539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219D8-6D83-47A4-0B59-C97F41808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42069-B871-4D3C-9A76-CCDB85C53523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C686E-D007-3943-7C23-396A75E0A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BBD2E-E256-59DF-72F7-993485C9F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2A710-D338-400E-80C3-2F1ED6D6DAF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5704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C54E0-59DF-7716-0776-2885313C9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BE24D-37F2-63FC-B22D-B30F448F30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CB32C2-C983-D84C-C547-E287A0CE58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9D5A1-853C-FD62-316F-C9B4966DD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42069-B871-4D3C-9A76-CCDB85C53523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5B83B8-5062-3EC5-D798-45727A77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7A7615-1188-F1DF-D5F1-BC1B485BA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2A710-D338-400E-80C3-2F1ED6D6DAF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0172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70F07-E872-B028-70AD-CFF8A7053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C6CB15-8EEC-ADCE-8B85-AE7AB02AD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2EDEF5-BCB0-3EBA-65D6-50D81B71FC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10B64C-D52D-AC4D-4058-C5BDC4D6CB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1DDB83-82E0-FF50-F761-6493E0781E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BDD36E-BA98-DF1D-B4A6-769F7B4CE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42069-B871-4D3C-9A76-CCDB85C53523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E439C0-61DE-A03A-6DCB-7C9819EDC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27AFBA-4312-3F66-7644-F608BF6BE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2A710-D338-400E-80C3-2F1ED6D6DAF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1690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DA72F-6923-466B-D39C-922938B62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08C80F-2694-A636-AC9F-C72BDB2FE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42069-B871-4D3C-9A76-CCDB85C53523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662366-1D26-CBCB-BB5E-C842786C4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712568-5419-1FA7-F962-7023CC137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2A710-D338-400E-80C3-2F1ED6D6DAF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088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3043A8-0801-F2C1-C6D7-361EB7113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42069-B871-4D3C-9A76-CCDB85C53523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E2E3DE-13CA-C5F5-829A-230FCC441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56FB55-4F6E-E2CF-C0D8-97D4A3FDC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2A710-D338-400E-80C3-2F1ED6D6DAF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2709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574CD-C31B-6EF5-68FE-8B7FE59FE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ED972-EA4F-66EF-0BD0-6CB1A2812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644B34-1142-2FB2-0C7D-5B016D73F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E19B15-9142-DB50-4E96-A66048714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42069-B871-4D3C-9A76-CCDB85C53523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F2920B-148B-51E5-9180-4E665D7E5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087653-DF98-2CFD-8BAA-F70B952A6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2A710-D338-400E-80C3-2F1ED6D6DAF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1258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18ABC-5F7C-30A2-4F4F-AE2A2EFB4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52066B-76F8-22AF-B859-D8896ED163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C3940D-5937-E3B9-9390-0300603BF6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1507E2-5A16-EE1A-9F34-D91301C22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42069-B871-4D3C-9A76-CCDB85C53523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2E8C57-8FA6-4770-0A86-8E6B6C33A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D15207-EF51-B5F9-D8C1-88E360BFE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2A710-D338-400E-80C3-2F1ED6D6DAF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9812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703A1-639F-69DD-6BBD-42F182EE3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1A3DC0-5396-92D5-13A4-8BDAC5E7EF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B8590-D4E9-3FD9-9BAB-EAFBE44C2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42069-B871-4D3C-9A76-CCDB85C53523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C997C-9227-646E-C57F-A56918717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F42FE-DCF7-6CCD-D4A9-A6A92B034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2A710-D338-400E-80C3-2F1ED6D6DAF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6402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3849C7-F925-673B-9E74-19142548A3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3C7222-7C88-9CE9-D5D2-9786BFD5B2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23842-76F6-088E-0756-4E1C0F987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42069-B871-4D3C-9A76-CCDB85C53523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60C4D-2DE5-0223-B807-CCAF84652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DB9D3-D9A1-7C4E-BCAB-68D3DC1A0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2A710-D338-400E-80C3-2F1ED6D6DAF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626730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3360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F05E06-8083-3204-6D94-97B8A4367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D89A00-013D-865A-DAF3-09F9A9C4E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A6A45-3A3A-1491-4BBB-CC1BB80CE8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F42069-B871-4D3C-9A76-CCDB85C53523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157DC-AD5A-1824-E774-85D519078F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C6D67-CAFE-7D08-60E2-11B2768FFC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52A710-D338-400E-80C3-2F1ED6D6DAF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3523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rk overlay">
            <a:extLst>
              <a:ext uri="{FF2B5EF4-FFF2-40B4-BE49-F238E27FC236}">
                <a16:creationId xmlns:a16="http://schemas.microsoft.com/office/drawing/2014/main" id="{8DEAA3C5-27C0-7802-D9AF-1A173D7FC12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01B">
              <a:alpha val="63000"/>
            </a:srgbClr>
          </a:solidFill>
          <a:ln>
            <a:noFill/>
          </a:ln>
        </p:spPr>
        <p:txBody>
          <a:bodyPr/>
          <a:lstStyle/>
          <a:p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214B99-C5F9-ECD6-38E6-FA499AF4FA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8698" y="1785467"/>
            <a:ext cx="5781368" cy="1974798"/>
          </a:xfrm>
        </p:spPr>
        <p:txBody>
          <a:bodyPr/>
          <a:lstStyle/>
          <a:p>
            <a:r>
              <a:rPr lang="ro-RO" b="1" dirty="0" err="1">
                <a:solidFill>
                  <a:srgbClr val="F4F7FB">
                    <a:alpha val="100000"/>
                  </a:srgbClr>
                </a:solidFill>
              </a:rPr>
              <a:t>CodeScape</a:t>
            </a:r>
            <a:br>
              <a:rPr lang="ro-RO" dirty="0"/>
            </a:b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7C1449-3BE3-2706-46B6-225CC73641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2932" y="2973849"/>
            <a:ext cx="5270089" cy="910302"/>
          </a:xfrm>
        </p:spPr>
        <p:txBody>
          <a:bodyPr>
            <a:normAutofit/>
          </a:bodyPr>
          <a:lstStyle/>
          <a:p>
            <a:pPr algn="l"/>
            <a:r>
              <a:rPr lang="ro-RO" b="1" dirty="0">
                <a:solidFill>
                  <a:srgbClr val="20D4F4">
                    <a:alpha val="100000"/>
                  </a:srgbClr>
                </a:solidFill>
                <a:latin typeface="Aptos Display"/>
              </a:rPr>
              <a:t>Joc 3D educativ pentru </a:t>
            </a:r>
            <a:r>
              <a:rPr lang="ro-RO" b="1" dirty="0" err="1">
                <a:solidFill>
                  <a:srgbClr val="20D4F4">
                    <a:alpha val="100000"/>
                  </a:srgbClr>
                </a:solidFill>
                <a:latin typeface="Aptos Display"/>
              </a:rPr>
              <a:t>invatarea</a:t>
            </a:r>
            <a:r>
              <a:rPr lang="ro-RO" b="1" dirty="0">
                <a:solidFill>
                  <a:srgbClr val="20D4F4">
                    <a:alpha val="100000"/>
                  </a:srgbClr>
                </a:solidFill>
                <a:latin typeface="Aptos Display"/>
              </a:rPr>
              <a:t> conceptelor de programare</a:t>
            </a:r>
            <a:endParaRPr lang="ro-RO" b="1" dirty="0"/>
          </a:p>
          <a:p>
            <a:pPr algn="l"/>
            <a:endParaRPr lang="en-AU" b="1" dirty="0"/>
          </a:p>
        </p:txBody>
      </p:sp>
      <p:sp>
        <p:nvSpPr>
          <p:cNvPr id="5" name="Meta">
            <a:extLst>
              <a:ext uri="{FF2B5EF4-FFF2-40B4-BE49-F238E27FC236}">
                <a16:creationId xmlns:a16="http://schemas.microsoft.com/office/drawing/2014/main" id="{54A2A8AF-3355-7627-61E6-FB6CA1B48450}"/>
              </a:ext>
            </a:extLst>
          </p:cNvPr>
          <p:cNvSpPr txBox="1"/>
          <p:nvPr/>
        </p:nvSpPr>
        <p:spPr>
          <a:xfrm>
            <a:off x="2325722" y="4982455"/>
            <a:ext cx="68580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ro-RO" sz="1700" dirty="0">
                <a:solidFill>
                  <a:srgbClr val="D6E2F0">
                    <a:alpha val="100000"/>
                  </a:srgbClr>
                </a:solidFill>
                <a:latin typeface="Aptos Display"/>
              </a:rPr>
              <a:t>Candidat: Adelina-Simina Jurca</a:t>
            </a:r>
            <a:endParaRPr lang="ro-RO" sz="1700" dirty="0"/>
          </a:p>
          <a:p>
            <a:pPr algn="l"/>
            <a:r>
              <a:rPr lang="ro-RO" sz="1700" dirty="0">
                <a:solidFill>
                  <a:srgbClr val="D6E2F0">
                    <a:alpha val="100000"/>
                  </a:srgbClr>
                </a:solidFill>
                <a:latin typeface="Aptos Display"/>
              </a:rPr>
              <a:t>Coordonator: Valer Bocan</a:t>
            </a:r>
            <a:endParaRPr lang="ro-RO" sz="17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6F76E2-C2D8-4DB8-BBC7-BB8E10AD4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744161" y="123372"/>
            <a:ext cx="2290523" cy="78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078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303EC3C-6297-4AB2-A517-D2E6DCC709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6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9E79F3-3061-4A05-A613-28F188DA6AA3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F28B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921F5C-2AA8-4593-8F60-55BE0E9D32A4}"/>
              </a:ext>
            </a:extLst>
          </p:cNvPr>
          <p:cNvSpPr>
            <a:spLocks noGrp="1"/>
          </p:cNvSpPr>
          <p:nvPr/>
        </p:nvSpPr>
        <p:spPr>
          <a:xfrm>
            <a:off x="8347587" y="5505451"/>
            <a:ext cx="3429000" cy="38100"/>
          </a:xfrm>
          <a:prstGeom prst="rect">
            <a:avLst/>
          </a:prstGeom>
          <a:solidFill>
            <a:srgbClr val="3EA7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D296AE-2EC7-42F4-99DF-C1A0A291C5A5}"/>
              </a:ext>
            </a:extLst>
          </p:cNvPr>
          <p:cNvSpPr>
            <a:spLocks noGrp="1"/>
          </p:cNvSpPr>
          <p:nvPr/>
        </p:nvSpPr>
        <p:spPr>
          <a:xfrm>
            <a:off x="8919087" y="5734051"/>
            <a:ext cx="2857500" cy="38100"/>
          </a:xfrm>
          <a:prstGeom prst="rect">
            <a:avLst/>
          </a:prstGeom>
          <a:solidFill>
            <a:srgbClr val="FFB1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D018FE-1CAA-4BB9-8AB1-084755D8C32A}"/>
              </a:ext>
            </a:extLst>
          </p:cNvPr>
          <p:cNvSpPr>
            <a:spLocks noGrp="1"/>
          </p:cNvSpPr>
          <p:nvPr/>
        </p:nvSpPr>
        <p:spPr>
          <a:xfrm>
            <a:off x="552450" y="1562099"/>
            <a:ext cx="61912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480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6000" dirty="0" err="1">
                <a:ln w="0"/>
                <a:gradFill flip="none" rotWithShape="1">
                  <a:gsLst>
                    <a:gs pos="0">
                      <a:schemeClr val="tx2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CodeScap</a:t>
            </a:r>
            <a:r>
              <a:rPr lang="ro-RO" sz="6000" dirty="0">
                <a:ln w="0"/>
                <a:gradFill flip="none" rotWithShape="1">
                  <a:gsLst>
                    <a:gs pos="0">
                      <a:schemeClr val="tx2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e</a:t>
            </a:r>
            <a:endParaRPr sz="6000" dirty="0">
              <a:ln w="0"/>
              <a:gradFill flip="none" rotWithShape="1">
                <a:gsLst>
                  <a:gs pos="0">
                    <a:schemeClr val="tx2">
                      <a:lumMod val="75000"/>
                      <a:lumOff val="25000"/>
                      <a:shade val="30000"/>
                      <a:satMod val="115000"/>
                    </a:schemeClr>
                  </a:gs>
                  <a:gs pos="50000">
                    <a:schemeClr val="tx2">
                      <a:lumMod val="75000"/>
                      <a:lumOff val="25000"/>
                      <a:shade val="67500"/>
                      <a:satMod val="115000"/>
                    </a:schemeClr>
                  </a:gs>
                  <a:gs pos="100000">
                    <a:schemeClr val="tx2">
                      <a:lumMod val="75000"/>
                      <a:lumOff val="2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164D04-1D48-4F17-870F-6936F03508F7}"/>
              </a:ext>
            </a:extLst>
          </p:cNvPr>
          <p:cNvSpPr>
            <a:spLocks noGrp="1"/>
          </p:cNvSpPr>
          <p:nvPr/>
        </p:nvSpPr>
        <p:spPr>
          <a:xfrm>
            <a:off x="571500" y="3279057"/>
            <a:ext cx="3951339" cy="126774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2400" b="1" dirty="0">
                <a:solidFill>
                  <a:schemeClr val="accent4"/>
                </a:solidFill>
                <a:latin typeface="Aptos Display"/>
              </a:rPr>
              <a:t>Joc 3D </a:t>
            </a:r>
            <a:r>
              <a:rPr sz="2400" b="1" dirty="0" err="1">
                <a:solidFill>
                  <a:schemeClr val="accent4"/>
                </a:solidFill>
                <a:latin typeface="Aptos Display"/>
              </a:rPr>
              <a:t>educativ</a:t>
            </a:r>
            <a:r>
              <a:rPr sz="2400" b="1" dirty="0">
                <a:solidFill>
                  <a:schemeClr val="accent4"/>
                </a:solidFill>
                <a:latin typeface="Aptos Display"/>
              </a:rPr>
              <a:t> </a:t>
            </a:r>
            <a:r>
              <a:rPr sz="2400" b="1" dirty="0" err="1">
                <a:solidFill>
                  <a:schemeClr val="accent4"/>
                </a:solidFill>
                <a:latin typeface="Aptos Display"/>
              </a:rPr>
              <a:t>pentru</a:t>
            </a:r>
            <a:r>
              <a:rPr sz="2400" b="1" dirty="0">
                <a:solidFill>
                  <a:schemeClr val="accent4"/>
                </a:solidFill>
                <a:latin typeface="Aptos Display"/>
              </a:rPr>
              <a:t> </a:t>
            </a:r>
            <a:r>
              <a:rPr lang="ro-RO" sz="2400" b="1" dirty="0">
                <a:solidFill>
                  <a:schemeClr val="accent4"/>
                </a:solidFill>
                <a:latin typeface="Aptos Display"/>
              </a:rPr>
              <a:t>î</a:t>
            </a:r>
            <a:r>
              <a:rPr sz="2400" b="1" dirty="0" err="1">
                <a:solidFill>
                  <a:schemeClr val="accent4"/>
                </a:solidFill>
                <a:latin typeface="Aptos Display"/>
              </a:rPr>
              <a:t>nv</a:t>
            </a:r>
            <a:r>
              <a:rPr lang="ro-RO" sz="2400" b="1" dirty="0" err="1">
                <a:solidFill>
                  <a:schemeClr val="accent4"/>
                </a:solidFill>
                <a:latin typeface="Aptos Display"/>
              </a:rPr>
              <a:t>ăț</a:t>
            </a:r>
            <a:r>
              <a:rPr sz="2400" b="1" dirty="0">
                <a:solidFill>
                  <a:schemeClr val="accent4"/>
                </a:solidFill>
                <a:latin typeface="Aptos Display"/>
              </a:rPr>
              <a:t>area </a:t>
            </a:r>
            <a:r>
              <a:rPr sz="2400" b="1" dirty="0" err="1">
                <a:solidFill>
                  <a:schemeClr val="accent4"/>
                </a:solidFill>
                <a:latin typeface="Aptos Display"/>
              </a:rPr>
              <a:t>conceptelor</a:t>
            </a:r>
            <a:r>
              <a:rPr sz="2400" b="1" dirty="0">
                <a:solidFill>
                  <a:schemeClr val="accent4"/>
                </a:solidFill>
                <a:latin typeface="Aptos Display"/>
              </a:rPr>
              <a:t> de </a:t>
            </a:r>
            <a:r>
              <a:rPr sz="2400" b="1" dirty="0" err="1">
                <a:solidFill>
                  <a:schemeClr val="accent4"/>
                </a:solidFill>
                <a:latin typeface="Aptos Display"/>
              </a:rPr>
              <a:t>programare</a:t>
            </a:r>
            <a:endParaRPr sz="2400" b="1" dirty="0">
              <a:solidFill>
                <a:schemeClr val="accent4"/>
              </a:solidFill>
              <a:latin typeface="Aptos Display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A1A3B02-2B34-43D9-92AD-D2724D3E1927}"/>
              </a:ext>
            </a:extLst>
          </p:cNvPr>
          <p:cNvSpPr>
            <a:spLocks noGrp="1"/>
          </p:cNvSpPr>
          <p:nvPr/>
        </p:nvSpPr>
        <p:spPr>
          <a:xfrm>
            <a:off x="4840951" y="1218279"/>
            <a:ext cx="6798599" cy="3944272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1430">
            <a:solidFill>
              <a:srgbClr val="7EBDE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rcRect t="53" b="53"/>
          <a:stretch>
            <a:fillRect/>
          </a:stretch>
        </p:blipFill>
        <p:spPr>
          <a:xfrm>
            <a:off x="4956375" y="1333499"/>
            <a:ext cx="6567750" cy="3690450"/>
          </a:xfrm>
          <a:prstGeom prst="roundRect">
            <a:avLst>
              <a:gd name="adj" fmla="val 2542"/>
            </a:avLst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4C8762A-7166-4500-BDBB-F551A542D63F}"/>
              </a:ext>
            </a:extLst>
          </p:cNvPr>
          <p:cNvSpPr>
            <a:spLocks noGrp="1"/>
          </p:cNvSpPr>
          <p:nvPr/>
        </p:nvSpPr>
        <p:spPr>
          <a:xfrm>
            <a:off x="552450" y="5791199"/>
            <a:ext cx="7429500" cy="56105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275" b="0" dirty="0" err="1">
                <a:solidFill>
                  <a:srgbClr val="142033"/>
                </a:solidFill>
                <a:latin typeface="Aptos"/>
                <a:ea typeface="Aptos"/>
                <a:cs typeface="Aptos"/>
              </a:rPr>
              <a:t>Candidat</a:t>
            </a:r>
            <a:r>
              <a:rPr sz="1275" b="0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: Adelina-Simina Jurca</a:t>
            </a:r>
            <a:endParaRPr lang="ro-RO" sz="1275" b="0" dirty="0">
              <a:solidFill>
                <a:srgbClr val="142033"/>
              </a:solidFill>
              <a:latin typeface="Aptos"/>
              <a:ea typeface="Aptos"/>
              <a:cs typeface="Aptos"/>
            </a:endParaRPr>
          </a:p>
          <a:p>
            <a:r>
              <a:rPr lang="ro-RO" sz="1275" dirty="0">
                <a:solidFill>
                  <a:srgbClr val="142033"/>
                </a:solidFill>
                <a:latin typeface="Aptos"/>
              </a:rPr>
              <a:t>Coordonator: Valer </a:t>
            </a:r>
            <a:r>
              <a:rPr lang="ro-RO" sz="1275" dirty="0" err="1">
                <a:solidFill>
                  <a:srgbClr val="142033"/>
                </a:solidFill>
                <a:latin typeface="Aptos"/>
              </a:rPr>
              <a:t>Bocan</a:t>
            </a:r>
            <a:endParaRPr lang="ro-RO" sz="1275" dirty="0">
              <a:solidFill>
                <a:srgbClr val="142033"/>
              </a:solidFill>
              <a:latin typeface="Apto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23ECF1-A518-42D1-85A9-A2174AD06970}"/>
              </a:ext>
            </a:extLst>
          </p:cNvPr>
          <p:cNvSpPr>
            <a:spLocks noGrp="1"/>
          </p:cNvSpPr>
          <p:nvPr/>
        </p:nvSpPr>
        <p:spPr>
          <a:xfrm>
            <a:off x="10572750" y="6419850"/>
            <a:ext cx="819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41607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16071"/>
                </a:solidFill>
                <a:latin typeface="Aptos"/>
                <a:ea typeface="Aptos"/>
                <a:cs typeface="Aptos"/>
              </a:rPr>
              <a:t>1/12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ED5312B-1FDF-255A-47FA-A2FDAB871B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744161" y="123372"/>
            <a:ext cx="2290523" cy="783072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2352D6F-D98E-9F38-C4AE-A56CEC26247C}"/>
              </a:ext>
            </a:extLst>
          </p:cNvPr>
          <p:cNvSpPr>
            <a:spLocks noGrp="1"/>
          </p:cNvSpPr>
          <p:nvPr/>
        </p:nvSpPr>
        <p:spPr>
          <a:xfrm flipV="1">
            <a:off x="180975" y="2562838"/>
            <a:ext cx="3800475" cy="45719"/>
          </a:xfrm>
          <a:prstGeom prst="rect">
            <a:avLst/>
          </a:prstGeom>
          <a:solidFill>
            <a:srgbClr val="3EA7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CAD8B38-C517-CF0F-7D11-78B2D0A05088}"/>
              </a:ext>
            </a:extLst>
          </p:cNvPr>
          <p:cNvSpPr>
            <a:spLocks noGrp="1"/>
          </p:cNvSpPr>
          <p:nvPr/>
        </p:nvSpPr>
        <p:spPr>
          <a:xfrm>
            <a:off x="180975" y="2801578"/>
            <a:ext cx="2857500" cy="38100"/>
          </a:xfrm>
          <a:prstGeom prst="rect">
            <a:avLst/>
          </a:prstGeom>
          <a:solidFill>
            <a:srgbClr val="FFB1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824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D6638201-E365-438B-9D59-784CF9B72B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132CAC-E044-409A-8F89-1A2825D9ACC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23950"/>
          </a:xfrm>
          <a:prstGeom prst="rect">
            <a:avLst/>
          </a:prstGeom>
          <a:solidFill>
            <a:srgbClr val="123B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93B1E6-7DB3-4CA4-ABAE-A668E7E47BA0}"/>
              </a:ext>
            </a:extLst>
          </p:cNvPr>
          <p:cNvSpPr>
            <a:spLocks noGrp="1"/>
          </p:cNvSpPr>
          <p:nvPr/>
        </p:nvSpPr>
        <p:spPr>
          <a:xfrm>
            <a:off x="0" y="1123950"/>
            <a:ext cx="12192000" cy="76200"/>
          </a:xfrm>
          <a:prstGeom prst="rect">
            <a:avLst/>
          </a:prstGeom>
          <a:solidFill>
            <a:srgbClr val="F28B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855374-9791-4E3A-AB91-9D4031EDACAA}"/>
              </a:ext>
            </a:extLst>
          </p:cNvPr>
          <p:cNvSpPr>
            <a:spLocks noGrp="1"/>
          </p:cNvSpPr>
          <p:nvPr/>
        </p:nvSpPr>
        <p:spPr>
          <a:xfrm>
            <a:off x="10477500" y="0"/>
            <a:ext cx="1047750" cy="6858000"/>
          </a:xfrm>
          <a:prstGeom prst="rect">
            <a:avLst/>
          </a:prstGeom>
          <a:solidFill>
            <a:srgbClr val="EAF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1007C3-E9F8-4096-9F22-53105858A2C8}"/>
              </a:ext>
            </a:extLst>
          </p:cNvPr>
          <p:cNvSpPr>
            <a:spLocks noGrp="1"/>
          </p:cNvSpPr>
          <p:nvPr/>
        </p:nvSpPr>
        <p:spPr>
          <a:xfrm>
            <a:off x="10610850" y="0"/>
            <a:ext cx="47625" cy="6858000"/>
          </a:xfrm>
          <a:prstGeom prst="rect">
            <a:avLst/>
          </a:prstGeom>
          <a:solidFill>
            <a:srgbClr val="3EA7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2C90B3-031E-4AD5-881C-6408868A9D42}"/>
              </a:ext>
            </a:extLst>
          </p:cNvPr>
          <p:cNvSpPr>
            <a:spLocks noGrp="1"/>
          </p:cNvSpPr>
          <p:nvPr/>
        </p:nvSpPr>
        <p:spPr>
          <a:xfrm>
            <a:off x="10896600" y="0"/>
            <a:ext cx="47625" cy="6858000"/>
          </a:xfrm>
          <a:prstGeom prst="rect">
            <a:avLst/>
          </a:prstGeom>
          <a:solidFill>
            <a:srgbClr val="FFB1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390044-858A-4D4C-88B3-53A9EAAD7ED7}"/>
              </a:ext>
            </a:extLst>
          </p:cNvPr>
          <p:cNvSpPr>
            <a:spLocks noGrp="1"/>
          </p:cNvSpPr>
          <p:nvPr/>
        </p:nvSpPr>
        <p:spPr>
          <a:xfrm>
            <a:off x="9600585" y="5962650"/>
            <a:ext cx="2190750" cy="28575"/>
          </a:xfrm>
          <a:prstGeom prst="rect">
            <a:avLst/>
          </a:prstGeom>
          <a:solidFill>
            <a:srgbClr val="FFB1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BC96AE-BF88-429E-BCAC-727B76C519FA}"/>
              </a:ext>
            </a:extLst>
          </p:cNvPr>
          <p:cNvSpPr>
            <a:spLocks noGrp="1"/>
          </p:cNvSpPr>
          <p:nvPr/>
        </p:nvSpPr>
        <p:spPr>
          <a:xfrm>
            <a:off x="9886335" y="6191250"/>
            <a:ext cx="1847850" cy="28575"/>
          </a:xfrm>
          <a:prstGeom prst="rect">
            <a:avLst/>
          </a:prstGeom>
          <a:solidFill>
            <a:srgbClr val="3EA7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6A9304-4867-438D-B269-08E2CD91EA6E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B1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B15F"/>
                </a:solidFill>
                <a:latin typeface="Aptos"/>
                <a:ea typeface="Aptos"/>
                <a:cs typeface="Aptos"/>
              </a:rPr>
              <a:t>CODESCAPE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BF019-CEBF-49F2-A66F-820AE38F52A5}"/>
              </a:ext>
            </a:extLst>
          </p:cNvPr>
          <p:cNvSpPr>
            <a:spLocks noGrp="1"/>
          </p:cNvSpPr>
          <p:nvPr/>
        </p:nvSpPr>
        <p:spPr>
          <a:xfrm>
            <a:off x="514350" y="523875"/>
            <a:ext cx="833437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75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Cuprins</a:t>
            </a:r>
            <a:endParaRPr sz="2475" b="1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4CD246-2DFF-433A-8748-7B58CB9028E2}"/>
              </a:ext>
            </a:extLst>
          </p:cNvPr>
          <p:cNvSpPr>
            <a:spLocks noGrp="1"/>
          </p:cNvSpPr>
          <p:nvPr/>
        </p:nvSpPr>
        <p:spPr>
          <a:xfrm>
            <a:off x="10572750" y="6419850"/>
            <a:ext cx="819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41607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16071"/>
                </a:solidFill>
                <a:latin typeface="Aptos"/>
                <a:ea typeface="Aptos"/>
                <a:cs typeface="Aptos"/>
              </a:rPr>
              <a:t>2/12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BD1EA72-E1CF-47C8-A5AB-4603B9639870}"/>
              </a:ext>
            </a:extLst>
          </p:cNvPr>
          <p:cNvSpPr>
            <a:spLocks noGrp="1"/>
          </p:cNvSpPr>
          <p:nvPr/>
        </p:nvSpPr>
        <p:spPr>
          <a:xfrm>
            <a:off x="857250" y="1581150"/>
            <a:ext cx="7810500" cy="533400"/>
          </a:xfrm>
          <a:prstGeom prst="roundRect">
            <a:avLst>
              <a:gd name="adj" fmla="val 14286"/>
            </a:avLst>
          </a:prstGeom>
          <a:solidFill>
            <a:srgbClr val="FFFFFF">
              <a:alpha val="90980"/>
            </a:srgbClr>
          </a:solidFill>
          <a:ln w="11430">
            <a:solidFill>
              <a:srgbClr val="9FD0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0A3FD56-B87E-4843-AE08-6A8B0FDC966D}"/>
              </a:ext>
            </a:extLst>
          </p:cNvPr>
          <p:cNvSpPr>
            <a:spLocks noGrp="1"/>
          </p:cNvSpPr>
          <p:nvPr/>
        </p:nvSpPr>
        <p:spPr>
          <a:xfrm>
            <a:off x="1066800" y="1695450"/>
            <a:ext cx="609600" cy="304800"/>
          </a:xfrm>
          <a:prstGeom prst="roundRect">
            <a:avLst>
              <a:gd name="adj" fmla="val 25000"/>
            </a:avLst>
          </a:prstGeom>
          <a:solidFill>
            <a:srgbClr val="1E6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38100" rIns="95250" bIns="3810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C15D65-9765-4D84-B341-05B87AE26E7F}"/>
              </a:ext>
            </a:extLst>
          </p:cNvPr>
          <p:cNvSpPr>
            <a:spLocks noGrp="1"/>
          </p:cNvSpPr>
          <p:nvPr/>
        </p:nvSpPr>
        <p:spPr>
          <a:xfrm>
            <a:off x="1952625" y="1724025"/>
            <a:ext cx="647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80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lang="en-AU" b="1" dirty="0" err="1"/>
              <a:t>Motivația</a:t>
            </a:r>
            <a:r>
              <a:rPr lang="en-AU" b="1" dirty="0"/>
              <a:t> </a:t>
            </a:r>
            <a:r>
              <a:rPr lang="en-AU" b="1" dirty="0" err="1"/>
              <a:t>proiectului</a:t>
            </a:r>
            <a:endParaRPr sz="1800" b="1" dirty="0">
              <a:solidFill>
                <a:srgbClr val="14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7E8E026-C9A5-46F1-996F-7017628AFBA6}"/>
              </a:ext>
            </a:extLst>
          </p:cNvPr>
          <p:cNvSpPr>
            <a:spLocks noGrp="1"/>
          </p:cNvSpPr>
          <p:nvPr/>
        </p:nvSpPr>
        <p:spPr>
          <a:xfrm>
            <a:off x="857250" y="2362200"/>
            <a:ext cx="7810500" cy="533400"/>
          </a:xfrm>
          <a:prstGeom prst="roundRect">
            <a:avLst>
              <a:gd name="adj" fmla="val 14286"/>
            </a:avLst>
          </a:prstGeom>
          <a:solidFill>
            <a:srgbClr val="FFFFFF">
              <a:alpha val="90980"/>
            </a:srgbClr>
          </a:solidFill>
          <a:ln w="11430">
            <a:solidFill>
              <a:srgbClr val="9FD0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4C3B82C-93A4-475D-B788-B3BE66427F6D}"/>
              </a:ext>
            </a:extLst>
          </p:cNvPr>
          <p:cNvSpPr>
            <a:spLocks noGrp="1"/>
          </p:cNvSpPr>
          <p:nvPr/>
        </p:nvSpPr>
        <p:spPr>
          <a:xfrm>
            <a:off x="1066800" y="2476500"/>
            <a:ext cx="609600" cy="304800"/>
          </a:xfrm>
          <a:prstGeom prst="roundRect">
            <a:avLst>
              <a:gd name="adj" fmla="val 25000"/>
            </a:avLst>
          </a:prstGeom>
          <a:solidFill>
            <a:srgbClr val="F28B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38100" rIns="95250" bIns="3810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B61E16-C7B4-4F6E-99B4-87227DF43838}"/>
              </a:ext>
            </a:extLst>
          </p:cNvPr>
          <p:cNvSpPr>
            <a:spLocks noGrp="1"/>
          </p:cNvSpPr>
          <p:nvPr/>
        </p:nvSpPr>
        <p:spPr>
          <a:xfrm>
            <a:off x="1952625" y="2505075"/>
            <a:ext cx="647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80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lang="en-AU" b="1" dirty="0" err="1"/>
              <a:t>Obiective</a:t>
            </a:r>
            <a:r>
              <a:rPr lang="en-AU" b="1" dirty="0"/>
              <a:t> </a:t>
            </a:r>
            <a:r>
              <a:rPr lang="en-AU" b="1" dirty="0" err="1"/>
              <a:t>și</a:t>
            </a:r>
            <a:r>
              <a:rPr lang="en-AU" b="1" dirty="0"/>
              <a:t> </a:t>
            </a:r>
            <a:r>
              <a:rPr lang="en-AU" b="1" dirty="0" err="1"/>
              <a:t>tehnologii</a:t>
            </a:r>
            <a:endParaRPr sz="1800" b="1" dirty="0">
              <a:solidFill>
                <a:srgbClr val="14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FC41895-06DB-4629-A16B-3461F03DF829}"/>
              </a:ext>
            </a:extLst>
          </p:cNvPr>
          <p:cNvSpPr>
            <a:spLocks noGrp="1"/>
          </p:cNvSpPr>
          <p:nvPr/>
        </p:nvSpPr>
        <p:spPr>
          <a:xfrm>
            <a:off x="857250" y="3143250"/>
            <a:ext cx="7810500" cy="533400"/>
          </a:xfrm>
          <a:prstGeom prst="roundRect">
            <a:avLst>
              <a:gd name="adj" fmla="val 14286"/>
            </a:avLst>
          </a:prstGeom>
          <a:solidFill>
            <a:srgbClr val="FFFFFF">
              <a:alpha val="90980"/>
            </a:srgbClr>
          </a:solidFill>
          <a:ln w="11430">
            <a:solidFill>
              <a:srgbClr val="9FD0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0AED267-B550-4CBD-87F5-89D69E64F476}"/>
              </a:ext>
            </a:extLst>
          </p:cNvPr>
          <p:cNvSpPr>
            <a:spLocks noGrp="1"/>
          </p:cNvSpPr>
          <p:nvPr/>
        </p:nvSpPr>
        <p:spPr>
          <a:xfrm>
            <a:off x="1066800" y="3257550"/>
            <a:ext cx="609600" cy="304800"/>
          </a:xfrm>
          <a:prstGeom prst="roundRect">
            <a:avLst>
              <a:gd name="adj" fmla="val 25000"/>
            </a:avLst>
          </a:prstGeom>
          <a:solidFill>
            <a:srgbClr val="1E6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38100" rIns="95250" bIns="3810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F395515-8E38-474D-AE80-8E797914AAD6}"/>
              </a:ext>
            </a:extLst>
          </p:cNvPr>
          <p:cNvSpPr>
            <a:spLocks noGrp="1"/>
          </p:cNvSpPr>
          <p:nvPr/>
        </p:nvSpPr>
        <p:spPr>
          <a:xfrm>
            <a:off x="1952625" y="3286125"/>
            <a:ext cx="647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80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lang="en-AU" b="1" dirty="0" err="1"/>
              <a:t>Structura</a:t>
            </a:r>
            <a:r>
              <a:rPr lang="en-AU" b="1" dirty="0"/>
              <a:t> </a:t>
            </a:r>
            <a:r>
              <a:rPr lang="en-AU" b="1" dirty="0" err="1"/>
              <a:t>aplicației</a:t>
            </a:r>
            <a:endParaRPr sz="1800" b="1" dirty="0">
              <a:solidFill>
                <a:srgbClr val="14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68006FF-5CAA-48FD-B885-EA2E31639417}"/>
              </a:ext>
            </a:extLst>
          </p:cNvPr>
          <p:cNvSpPr>
            <a:spLocks noGrp="1"/>
          </p:cNvSpPr>
          <p:nvPr/>
        </p:nvSpPr>
        <p:spPr>
          <a:xfrm>
            <a:off x="857250" y="3924300"/>
            <a:ext cx="7810500" cy="533400"/>
          </a:xfrm>
          <a:prstGeom prst="roundRect">
            <a:avLst>
              <a:gd name="adj" fmla="val 14286"/>
            </a:avLst>
          </a:prstGeom>
          <a:solidFill>
            <a:srgbClr val="FFFFFF">
              <a:alpha val="90980"/>
            </a:srgbClr>
          </a:solidFill>
          <a:ln w="11430">
            <a:solidFill>
              <a:srgbClr val="9FD0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3315409-C1A9-489F-8F4F-49994CA93272}"/>
              </a:ext>
            </a:extLst>
          </p:cNvPr>
          <p:cNvSpPr>
            <a:spLocks noGrp="1"/>
          </p:cNvSpPr>
          <p:nvPr/>
        </p:nvSpPr>
        <p:spPr>
          <a:xfrm>
            <a:off x="1066800" y="4038600"/>
            <a:ext cx="609600" cy="304800"/>
          </a:xfrm>
          <a:prstGeom prst="roundRect">
            <a:avLst>
              <a:gd name="adj" fmla="val 25000"/>
            </a:avLst>
          </a:prstGeom>
          <a:solidFill>
            <a:srgbClr val="F28B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38100" rIns="95250" bIns="3810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A2FF22-B70B-49D8-AD48-6B0017AE378A}"/>
              </a:ext>
            </a:extLst>
          </p:cNvPr>
          <p:cNvSpPr>
            <a:spLocks noGrp="1"/>
          </p:cNvSpPr>
          <p:nvPr/>
        </p:nvSpPr>
        <p:spPr>
          <a:xfrm>
            <a:off x="1952625" y="4067175"/>
            <a:ext cx="647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80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lang="en-AU" b="1" dirty="0" err="1"/>
              <a:t>Nivelurile</a:t>
            </a:r>
            <a:r>
              <a:rPr lang="en-AU" b="1" dirty="0"/>
              <a:t> educative</a:t>
            </a:r>
            <a:endParaRPr sz="1800" b="1" dirty="0">
              <a:solidFill>
                <a:srgbClr val="14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FF9ECEF-9AC5-448F-B890-A667626BD5C8}"/>
              </a:ext>
            </a:extLst>
          </p:cNvPr>
          <p:cNvSpPr>
            <a:spLocks noGrp="1"/>
          </p:cNvSpPr>
          <p:nvPr/>
        </p:nvSpPr>
        <p:spPr>
          <a:xfrm>
            <a:off x="857250" y="4705350"/>
            <a:ext cx="7810500" cy="533400"/>
          </a:xfrm>
          <a:prstGeom prst="roundRect">
            <a:avLst>
              <a:gd name="adj" fmla="val 14286"/>
            </a:avLst>
          </a:prstGeom>
          <a:solidFill>
            <a:srgbClr val="FFFFFF">
              <a:alpha val="90980"/>
            </a:srgbClr>
          </a:solidFill>
          <a:ln w="11430">
            <a:solidFill>
              <a:srgbClr val="9FD0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26F2365-B8F1-4BD7-8E1A-1D79DCF1CDD8}"/>
              </a:ext>
            </a:extLst>
          </p:cNvPr>
          <p:cNvSpPr>
            <a:spLocks noGrp="1"/>
          </p:cNvSpPr>
          <p:nvPr/>
        </p:nvSpPr>
        <p:spPr>
          <a:xfrm>
            <a:off x="1066800" y="4819650"/>
            <a:ext cx="609600" cy="304800"/>
          </a:xfrm>
          <a:prstGeom prst="roundRect">
            <a:avLst>
              <a:gd name="adj" fmla="val 25000"/>
            </a:avLst>
          </a:prstGeom>
          <a:solidFill>
            <a:srgbClr val="1E6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38100" rIns="95250" bIns="3810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89F91F3-ABF4-49C0-B7AA-CA3CC4FA7529}"/>
              </a:ext>
            </a:extLst>
          </p:cNvPr>
          <p:cNvSpPr>
            <a:spLocks noGrp="1"/>
          </p:cNvSpPr>
          <p:nvPr/>
        </p:nvSpPr>
        <p:spPr>
          <a:xfrm>
            <a:off x="1952625" y="4848225"/>
            <a:ext cx="647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80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lang="en-AU" b="1" dirty="0" err="1"/>
              <a:t>Testare</a:t>
            </a:r>
            <a:r>
              <a:rPr lang="en-AU" b="1" dirty="0"/>
              <a:t> </a:t>
            </a:r>
            <a:r>
              <a:rPr lang="en-AU" b="1" dirty="0" err="1"/>
              <a:t>și</a:t>
            </a:r>
            <a:r>
              <a:rPr lang="en-AU" b="1" dirty="0"/>
              <a:t> </a:t>
            </a:r>
            <a:r>
              <a:rPr lang="en-AU" b="1" dirty="0" err="1"/>
              <a:t>contribuții</a:t>
            </a:r>
            <a:r>
              <a:rPr lang="en-AU" b="1" dirty="0"/>
              <a:t> </a:t>
            </a:r>
            <a:r>
              <a:rPr lang="en-AU" b="1" dirty="0" err="1"/>
              <a:t>personale</a:t>
            </a:r>
            <a:endParaRPr sz="1800" b="1" dirty="0">
              <a:solidFill>
                <a:srgbClr val="142033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C63BCF8A-9168-55CE-F765-23E7A9242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744161" y="123372"/>
            <a:ext cx="2290523" cy="783072"/>
          </a:xfrm>
          <a:prstGeom prst="rect">
            <a:avLst/>
          </a:prstGeom>
        </p:spPr>
      </p:pic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BD534D5-61CA-D4A4-7CB8-F5FC56D12E8D}"/>
              </a:ext>
            </a:extLst>
          </p:cNvPr>
          <p:cNvSpPr>
            <a:spLocks noGrp="1"/>
          </p:cNvSpPr>
          <p:nvPr/>
        </p:nvSpPr>
        <p:spPr>
          <a:xfrm>
            <a:off x="847418" y="5481177"/>
            <a:ext cx="7810500" cy="533400"/>
          </a:xfrm>
          <a:prstGeom prst="roundRect">
            <a:avLst>
              <a:gd name="adj" fmla="val 14286"/>
            </a:avLst>
          </a:prstGeom>
          <a:solidFill>
            <a:srgbClr val="FFFFFF">
              <a:alpha val="90980"/>
            </a:srgbClr>
          </a:solidFill>
          <a:ln w="11430">
            <a:solidFill>
              <a:srgbClr val="9FD0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2AD0ABB-028E-DBEC-96FF-4DA805E11CAE}"/>
              </a:ext>
            </a:extLst>
          </p:cNvPr>
          <p:cNvSpPr>
            <a:spLocks noGrp="1"/>
          </p:cNvSpPr>
          <p:nvPr/>
        </p:nvSpPr>
        <p:spPr>
          <a:xfrm>
            <a:off x="1056968" y="5595477"/>
            <a:ext cx="609600" cy="304800"/>
          </a:xfrm>
          <a:prstGeom prst="roundRect">
            <a:avLst>
              <a:gd name="adj" fmla="val 25000"/>
            </a:avLst>
          </a:prstGeom>
          <a:solidFill>
            <a:srgbClr val="F28B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38100" rIns="95250" bIns="3810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 dirty="0">
                <a:solidFill>
                  <a:srgbClr val="FFFFFF"/>
                </a:solidFill>
              </a:rPr>
              <a:t>0</a:t>
            </a:r>
            <a:r>
              <a:rPr lang="ro-RO" sz="1050" b="1" dirty="0">
                <a:solidFill>
                  <a:srgbClr val="FFFFFF"/>
                </a:solidFill>
              </a:rPr>
              <a:t>6</a:t>
            </a:r>
            <a:endParaRPr sz="1050" b="1" dirty="0">
              <a:solidFill>
                <a:srgbClr val="FFFFFF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246D8E8-337D-BD9C-9C05-8C7904507605}"/>
              </a:ext>
            </a:extLst>
          </p:cNvPr>
          <p:cNvSpPr>
            <a:spLocks noGrp="1"/>
          </p:cNvSpPr>
          <p:nvPr/>
        </p:nvSpPr>
        <p:spPr>
          <a:xfrm>
            <a:off x="1942793" y="5624052"/>
            <a:ext cx="647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80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lang="ro-RO" b="1" dirty="0"/>
              <a:t>Concluzii</a:t>
            </a:r>
            <a:endParaRPr sz="1800" b="1" dirty="0">
              <a:solidFill>
                <a:srgbClr val="142033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52177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83A2AE4-49F1-4EF0-AB12-949EC15755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FA6FC5-FE0A-4E24-97E3-D2F54D41EB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23950"/>
          </a:xfrm>
          <a:prstGeom prst="rect">
            <a:avLst/>
          </a:prstGeom>
          <a:solidFill>
            <a:srgbClr val="123B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813E74-C6AE-404A-8FB2-856526C5D8C8}"/>
              </a:ext>
            </a:extLst>
          </p:cNvPr>
          <p:cNvSpPr>
            <a:spLocks noGrp="1"/>
          </p:cNvSpPr>
          <p:nvPr/>
        </p:nvSpPr>
        <p:spPr>
          <a:xfrm>
            <a:off x="0" y="1123950"/>
            <a:ext cx="12192000" cy="76200"/>
          </a:xfrm>
          <a:prstGeom prst="rect">
            <a:avLst/>
          </a:prstGeom>
          <a:solidFill>
            <a:srgbClr val="F28B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0515D3-5F30-4597-A697-B85E47F1A7E9}"/>
              </a:ext>
            </a:extLst>
          </p:cNvPr>
          <p:cNvSpPr>
            <a:spLocks noGrp="1"/>
          </p:cNvSpPr>
          <p:nvPr/>
        </p:nvSpPr>
        <p:spPr>
          <a:xfrm>
            <a:off x="10959280" y="0"/>
            <a:ext cx="1047750" cy="6858000"/>
          </a:xfrm>
          <a:prstGeom prst="rect">
            <a:avLst/>
          </a:prstGeom>
          <a:solidFill>
            <a:srgbClr val="EAF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93CFD1-7A79-4421-BD90-596A013B2342}"/>
              </a:ext>
            </a:extLst>
          </p:cNvPr>
          <p:cNvSpPr>
            <a:spLocks noGrp="1"/>
          </p:cNvSpPr>
          <p:nvPr/>
        </p:nvSpPr>
        <p:spPr>
          <a:xfrm>
            <a:off x="11092630" y="0"/>
            <a:ext cx="47625" cy="6858000"/>
          </a:xfrm>
          <a:prstGeom prst="rect">
            <a:avLst/>
          </a:prstGeom>
          <a:solidFill>
            <a:srgbClr val="3EA7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81078C-BF1A-4C8F-B6D8-25D8AA2F44E6}"/>
              </a:ext>
            </a:extLst>
          </p:cNvPr>
          <p:cNvSpPr>
            <a:spLocks noGrp="1"/>
          </p:cNvSpPr>
          <p:nvPr/>
        </p:nvSpPr>
        <p:spPr>
          <a:xfrm>
            <a:off x="11378380" y="0"/>
            <a:ext cx="47625" cy="6858000"/>
          </a:xfrm>
          <a:prstGeom prst="rect">
            <a:avLst/>
          </a:prstGeom>
          <a:solidFill>
            <a:srgbClr val="FFB1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17F6E5-84A3-447F-96FB-D376DBC6CC1B}"/>
              </a:ext>
            </a:extLst>
          </p:cNvPr>
          <p:cNvSpPr>
            <a:spLocks noGrp="1"/>
          </p:cNvSpPr>
          <p:nvPr/>
        </p:nvSpPr>
        <p:spPr>
          <a:xfrm>
            <a:off x="9816280" y="5915025"/>
            <a:ext cx="2190750" cy="28575"/>
          </a:xfrm>
          <a:prstGeom prst="rect">
            <a:avLst/>
          </a:prstGeom>
          <a:solidFill>
            <a:srgbClr val="FFB1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5FB689-CFFA-4A34-867B-805772A62240}"/>
              </a:ext>
            </a:extLst>
          </p:cNvPr>
          <p:cNvSpPr>
            <a:spLocks noGrp="1"/>
          </p:cNvSpPr>
          <p:nvPr/>
        </p:nvSpPr>
        <p:spPr>
          <a:xfrm>
            <a:off x="10102030" y="6143625"/>
            <a:ext cx="1847850" cy="28575"/>
          </a:xfrm>
          <a:prstGeom prst="rect">
            <a:avLst/>
          </a:prstGeom>
          <a:solidFill>
            <a:srgbClr val="3EA7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350A3C-B7DB-4180-AC81-767EC5748BF4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B15F"/>
                </a:solidFill>
                <a:latin typeface="Aptos"/>
                <a:ea typeface="Aptos"/>
                <a:cs typeface="Aptos"/>
              </a:defRPr>
            </a:pPr>
            <a:r>
              <a:rPr sz="975" b="1" dirty="0">
                <a:solidFill>
                  <a:srgbClr val="FFB15F"/>
                </a:solidFill>
                <a:latin typeface="Aptos"/>
                <a:ea typeface="Aptos"/>
                <a:cs typeface="Aptos"/>
              </a:rPr>
              <a:t>CODESCAPE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698C16-EDDD-46A8-903A-AE97607CF3BB}"/>
              </a:ext>
            </a:extLst>
          </p:cNvPr>
          <p:cNvSpPr>
            <a:spLocks noGrp="1"/>
          </p:cNvSpPr>
          <p:nvPr/>
        </p:nvSpPr>
        <p:spPr>
          <a:xfrm>
            <a:off x="514350" y="523875"/>
            <a:ext cx="833437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ro-RO" sz="2475" b="1" dirty="0">
                <a:solidFill>
                  <a:srgbClr val="FFFFFF"/>
                </a:solidFill>
                <a:latin typeface="Aptos"/>
              </a:rPr>
              <a:t>Motivația</a:t>
            </a:r>
            <a:r>
              <a:rPr lang="ro-RO" sz="28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lang="ro-RO" sz="2475" b="1" dirty="0">
                <a:solidFill>
                  <a:srgbClr val="FFFFFF"/>
                </a:solidFill>
                <a:latin typeface="Aptos"/>
              </a:rPr>
              <a:t>proiectului</a:t>
            </a:r>
            <a:endParaRPr sz="2475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937DC6-A19F-4B4E-84D8-1B3C8D558682}"/>
              </a:ext>
            </a:extLst>
          </p:cNvPr>
          <p:cNvSpPr>
            <a:spLocks noGrp="1"/>
          </p:cNvSpPr>
          <p:nvPr/>
        </p:nvSpPr>
        <p:spPr>
          <a:xfrm>
            <a:off x="10572750" y="6419850"/>
            <a:ext cx="819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416071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416071"/>
                </a:solidFill>
                <a:latin typeface="Aptos"/>
                <a:ea typeface="Aptos"/>
                <a:cs typeface="Aptos"/>
              </a:rPr>
              <a:t>3/12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5785CA4-A713-4336-A129-18C85F775E45}"/>
              </a:ext>
            </a:extLst>
          </p:cNvPr>
          <p:cNvSpPr>
            <a:spLocks noGrp="1"/>
          </p:cNvSpPr>
          <p:nvPr/>
        </p:nvSpPr>
        <p:spPr>
          <a:xfrm>
            <a:off x="584557" y="1682086"/>
            <a:ext cx="5099562" cy="1600200"/>
          </a:xfrm>
          <a:prstGeom prst="roundRect">
            <a:avLst>
              <a:gd name="adj" fmla="val 4762"/>
            </a:avLst>
          </a:prstGeom>
          <a:solidFill>
            <a:srgbClr val="10233F"/>
          </a:solidFill>
          <a:ln w="11430">
            <a:solidFill>
              <a:srgbClr val="3EA7D9"/>
            </a:solidFill>
            <a:prstDash val="solid"/>
          </a:ln>
        </p:spPr>
        <p:txBody>
          <a:bodyPr/>
          <a:lstStyle/>
          <a:p>
            <a:endParaRPr lang="en-AU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85CEEA7-BCEC-454A-8C3C-1B7E149CD8F6}"/>
              </a:ext>
            </a:extLst>
          </p:cNvPr>
          <p:cNvSpPr>
            <a:spLocks noGrp="1"/>
          </p:cNvSpPr>
          <p:nvPr/>
        </p:nvSpPr>
        <p:spPr>
          <a:xfrm>
            <a:off x="889357" y="1967836"/>
            <a:ext cx="4506554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AU" sz="2325" b="1" dirty="0" err="1"/>
              <a:t>Programarea</a:t>
            </a:r>
            <a:r>
              <a:rPr lang="en-AU" sz="2325" b="1" dirty="0"/>
              <a:t> </a:t>
            </a:r>
            <a:r>
              <a:rPr lang="en-AU" sz="2325" b="1" dirty="0" err="1"/>
              <a:t>devine</a:t>
            </a:r>
            <a:r>
              <a:rPr lang="en-AU" sz="2325" b="1" dirty="0"/>
              <a:t> </a:t>
            </a:r>
            <a:r>
              <a:rPr lang="en-AU" sz="2325" b="1" dirty="0" err="1"/>
              <a:t>mai</a:t>
            </a:r>
            <a:r>
              <a:rPr lang="en-AU" sz="2325" b="1" dirty="0"/>
              <a:t> </a:t>
            </a:r>
            <a:r>
              <a:rPr lang="en-AU" sz="2325" b="1" dirty="0" err="1"/>
              <a:t>clară</a:t>
            </a:r>
            <a:r>
              <a:rPr lang="en-AU" sz="2325" b="1" dirty="0"/>
              <a:t> </a:t>
            </a:r>
            <a:r>
              <a:rPr lang="en-AU" sz="2325" b="1" dirty="0" err="1"/>
              <a:t>prin</a:t>
            </a:r>
            <a:r>
              <a:rPr lang="en-AU" sz="2325" b="1" dirty="0"/>
              <a:t> </a:t>
            </a:r>
            <a:r>
              <a:rPr lang="en-AU" sz="2325" b="1" dirty="0" err="1"/>
              <a:t>exemple</a:t>
            </a:r>
            <a:r>
              <a:rPr lang="en-AU" sz="2325" b="1" dirty="0"/>
              <a:t> </a:t>
            </a:r>
            <a:r>
              <a:rPr lang="en-AU" sz="2325" b="1" dirty="0" err="1"/>
              <a:t>vizuale</a:t>
            </a:r>
            <a:r>
              <a:rPr lang="en-AU" sz="2325" b="1" dirty="0"/>
              <a:t> </a:t>
            </a:r>
            <a:r>
              <a:rPr lang="en-AU" sz="2325" b="1" dirty="0" err="1"/>
              <a:t>și</a:t>
            </a:r>
            <a:r>
              <a:rPr lang="en-AU" sz="2325" b="1" dirty="0"/>
              <a:t> interactive.</a:t>
            </a:r>
            <a:endParaRPr sz="2325" b="1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F6DC092-2CFF-4292-AB48-9D55A32A161E}"/>
              </a:ext>
            </a:extLst>
          </p:cNvPr>
          <p:cNvSpPr>
            <a:spLocks noGrp="1"/>
          </p:cNvSpPr>
          <p:nvPr/>
        </p:nvSpPr>
        <p:spPr>
          <a:xfrm>
            <a:off x="709767" y="3728114"/>
            <a:ext cx="4876800" cy="2266950"/>
          </a:xfrm>
          <a:prstGeom prst="roundRect">
            <a:avLst>
              <a:gd name="adj" fmla="val 3361"/>
            </a:avLst>
          </a:prstGeom>
          <a:solidFill>
            <a:srgbClr val="FFFFFF">
              <a:alpha val="90980"/>
            </a:srgbClr>
          </a:solidFill>
          <a:ln w="11430">
            <a:solidFill>
              <a:srgbClr val="9FD0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9D5F60-68AF-4020-92DC-403C4D4D8397}"/>
              </a:ext>
            </a:extLst>
          </p:cNvPr>
          <p:cNvSpPr>
            <a:spLocks noGrp="1"/>
          </p:cNvSpPr>
          <p:nvPr/>
        </p:nvSpPr>
        <p:spPr>
          <a:xfrm>
            <a:off x="1017107" y="4118639"/>
            <a:ext cx="104775" cy="104775"/>
          </a:xfrm>
          <a:prstGeom prst="rect">
            <a:avLst/>
          </a:prstGeom>
          <a:solidFill>
            <a:srgbClr val="1E6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CF0319-5F1B-42B9-80EF-CC8A9236F263}"/>
              </a:ext>
            </a:extLst>
          </p:cNvPr>
          <p:cNvSpPr>
            <a:spLocks noGrp="1"/>
          </p:cNvSpPr>
          <p:nvPr/>
        </p:nvSpPr>
        <p:spPr>
          <a:xfrm>
            <a:off x="1017107" y="4756465"/>
            <a:ext cx="104775" cy="104775"/>
          </a:xfrm>
          <a:prstGeom prst="rect">
            <a:avLst/>
          </a:prstGeom>
          <a:solidFill>
            <a:srgbClr val="F28B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73A0770-4E6C-4B5A-A4F2-2A655B36AC07}"/>
              </a:ext>
            </a:extLst>
          </p:cNvPr>
          <p:cNvSpPr>
            <a:spLocks noGrp="1"/>
          </p:cNvSpPr>
          <p:nvPr/>
        </p:nvSpPr>
        <p:spPr>
          <a:xfrm>
            <a:off x="1017107" y="5395603"/>
            <a:ext cx="104775" cy="104775"/>
          </a:xfrm>
          <a:prstGeom prst="rect">
            <a:avLst/>
          </a:prstGeom>
          <a:solidFill>
            <a:srgbClr val="1E6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97F178-CC4D-4423-912F-7B5D7C3EEBD8}"/>
              </a:ext>
            </a:extLst>
          </p:cNvPr>
          <p:cNvSpPr>
            <a:spLocks noGrp="1"/>
          </p:cNvSpPr>
          <p:nvPr/>
        </p:nvSpPr>
        <p:spPr>
          <a:xfrm>
            <a:off x="1343024" y="5306736"/>
            <a:ext cx="3921072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en-AU" dirty="0" err="1">
                <a:latin typeface="+mj-lt"/>
              </a:rPr>
              <a:t>învățare</a:t>
            </a:r>
            <a:r>
              <a:rPr lang="en-AU" dirty="0">
                <a:latin typeface="+mj-lt"/>
              </a:rPr>
              <a:t> </a:t>
            </a:r>
            <a:r>
              <a:rPr lang="en-AU" dirty="0" err="1">
                <a:latin typeface="+mj-lt"/>
              </a:rPr>
              <a:t>mai</a:t>
            </a:r>
            <a:r>
              <a:rPr lang="en-AU" dirty="0">
                <a:latin typeface="+mj-lt"/>
              </a:rPr>
              <a:t> </a:t>
            </a:r>
            <a:r>
              <a:rPr lang="en-AU" dirty="0" err="1">
                <a:latin typeface="+mj-lt"/>
              </a:rPr>
              <a:t>eficientă</a:t>
            </a:r>
            <a:r>
              <a:rPr lang="en-AU" dirty="0">
                <a:latin typeface="+mj-lt"/>
              </a:rPr>
              <a:t> </a:t>
            </a:r>
            <a:r>
              <a:rPr lang="en-AU" dirty="0" err="1">
                <a:latin typeface="+mj-lt"/>
              </a:rPr>
              <a:t>prin</a:t>
            </a:r>
            <a:r>
              <a:rPr lang="en-AU" dirty="0">
                <a:latin typeface="+mj-lt"/>
              </a:rPr>
              <a:t> feedback rapid</a:t>
            </a:r>
            <a:endParaRPr dirty="0">
              <a:latin typeface="+mj-lt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D9C4EB1-95EC-4550-83D3-EBC9B54EB4C9}"/>
              </a:ext>
            </a:extLst>
          </p:cNvPr>
          <p:cNvSpPr>
            <a:spLocks noGrp="1"/>
          </p:cNvSpPr>
          <p:nvPr/>
        </p:nvSpPr>
        <p:spPr>
          <a:xfrm>
            <a:off x="5850654" y="1894034"/>
            <a:ext cx="5099562" cy="2928996"/>
          </a:xfrm>
          <a:prstGeom prst="roundRect">
            <a:avLst>
              <a:gd name="adj" fmla="val 3376"/>
            </a:avLst>
          </a:prstGeom>
          <a:solidFill>
            <a:srgbClr val="FFFFFF"/>
          </a:solidFill>
          <a:ln w="11430">
            <a:solidFill>
              <a:srgbClr val="7EBDE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rcRect t="85" b="85"/>
          <a:stretch>
            <a:fillRect/>
          </a:stretch>
        </p:blipFill>
        <p:spPr>
          <a:xfrm>
            <a:off x="5976015" y="2015648"/>
            <a:ext cx="4821648" cy="2710843"/>
          </a:xfrm>
          <a:prstGeom prst="roundRect">
            <a:avLst>
              <a:gd name="adj" fmla="val 2740"/>
            </a:avLst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77E4F25-30D7-428E-AD7F-4A3DF6289AF2}"/>
              </a:ext>
            </a:extLst>
          </p:cNvPr>
          <p:cNvSpPr>
            <a:spLocks noGrp="1"/>
          </p:cNvSpPr>
          <p:nvPr/>
        </p:nvSpPr>
        <p:spPr>
          <a:xfrm>
            <a:off x="6429220" y="5195578"/>
            <a:ext cx="4419756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23B68"/>
                </a:solidFill>
                <a:latin typeface="Aptos"/>
                <a:ea typeface="Aptos"/>
                <a:cs typeface="Aptos"/>
              </a:defRPr>
            </a:pPr>
            <a:r>
              <a:rPr lang="it-IT" sz="1650" b="1" dirty="0"/>
              <a:t>Ghid informativ </a:t>
            </a:r>
            <a:r>
              <a:rPr lang="ro-RO" sz="1650" b="1" dirty="0"/>
              <a:t>la</a:t>
            </a:r>
            <a:r>
              <a:rPr lang="it-IT" sz="1650" b="1" dirty="0"/>
              <a:t> fiecare nivel: la click, utilizatorul primește teoria pe scurt.</a:t>
            </a:r>
            <a:endParaRPr sz="1650" b="1" dirty="0">
              <a:solidFill>
                <a:srgbClr val="123B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C938859-B919-E7AC-A1E1-B998AF54CF3D}"/>
              </a:ext>
            </a:extLst>
          </p:cNvPr>
          <p:cNvSpPr txBox="1"/>
          <p:nvPr/>
        </p:nvSpPr>
        <p:spPr>
          <a:xfrm>
            <a:off x="5569207" y="4826504"/>
            <a:ext cx="61009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o-RO" sz="1400" dirty="0">
                <a:solidFill>
                  <a:srgbClr val="123B68"/>
                </a:solidFill>
                <a:latin typeface="Aptos"/>
              </a:rPr>
              <a:t>Nivel 1 – Ghid Informativ</a:t>
            </a:r>
            <a:endParaRPr lang="en-US" sz="1400" dirty="0">
              <a:solidFill>
                <a:srgbClr val="123B68"/>
              </a:solidFill>
              <a:latin typeface="Aptos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3D6A819-3F2C-0D71-431A-41A51EDE6E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744161" y="123372"/>
            <a:ext cx="2290523" cy="783072"/>
          </a:xfrm>
          <a:prstGeom prst="rect">
            <a:avLst/>
          </a:prstGeom>
        </p:spPr>
      </p:pic>
      <p:sp>
        <p:nvSpPr>
          <p:cNvPr id="32" name="bullet text 0">
            <a:extLst>
              <a:ext uri="{FF2B5EF4-FFF2-40B4-BE49-F238E27FC236}">
                <a16:creationId xmlns:a16="http://schemas.microsoft.com/office/drawing/2014/main" id="{542727DE-0B05-8BDD-B577-6AC71D4FB39A}"/>
              </a:ext>
            </a:extLst>
          </p:cNvPr>
          <p:cNvSpPr/>
          <p:nvPr/>
        </p:nvSpPr>
        <p:spPr>
          <a:xfrm>
            <a:off x="1270983" y="3983300"/>
            <a:ext cx="4310832" cy="646331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>
            <a:spAutoFit/>
          </a:bodyPr>
          <a:lstStyle/>
          <a:p>
            <a:r>
              <a:rPr lang="en-AU" dirty="0" err="1">
                <a:latin typeface="+mj-lt"/>
              </a:rPr>
              <a:t>concepte</a:t>
            </a:r>
            <a:r>
              <a:rPr lang="en-AU" dirty="0">
                <a:latin typeface="+mj-lt"/>
              </a:rPr>
              <a:t> </a:t>
            </a:r>
            <a:r>
              <a:rPr lang="en-AU" dirty="0" err="1">
                <a:latin typeface="+mj-lt"/>
              </a:rPr>
              <a:t>greu</a:t>
            </a:r>
            <a:r>
              <a:rPr lang="en-AU" dirty="0">
                <a:latin typeface="+mj-lt"/>
              </a:rPr>
              <a:t> de </a:t>
            </a:r>
            <a:r>
              <a:rPr lang="en-AU" dirty="0" err="1">
                <a:latin typeface="+mj-lt"/>
              </a:rPr>
              <a:t>vizualizat</a:t>
            </a:r>
            <a:r>
              <a:rPr lang="en-AU" dirty="0">
                <a:latin typeface="+mj-lt"/>
              </a:rPr>
              <a:t> la </a:t>
            </a:r>
            <a:r>
              <a:rPr lang="en-AU" dirty="0" err="1">
                <a:latin typeface="+mj-lt"/>
              </a:rPr>
              <a:t>început</a:t>
            </a:r>
            <a:endParaRPr lang="en-AU" dirty="0">
              <a:latin typeface="+mj-lt"/>
              <a:ea typeface="Aptos"/>
              <a:cs typeface="Aptos"/>
            </a:endParaRPr>
          </a:p>
          <a:p>
            <a:pPr algn="l"/>
            <a:endParaRPr lang="en-US" dirty="0">
              <a:solidFill>
                <a:srgbClr val="142033"/>
              </a:solidFill>
              <a:latin typeface="+mj-lt"/>
            </a:endParaRPr>
          </a:p>
        </p:txBody>
      </p:sp>
      <p:sp>
        <p:nvSpPr>
          <p:cNvPr id="34" name="bullet text 0">
            <a:extLst>
              <a:ext uri="{FF2B5EF4-FFF2-40B4-BE49-F238E27FC236}">
                <a16:creationId xmlns:a16="http://schemas.microsoft.com/office/drawing/2014/main" id="{BF5B7C94-28C6-C7B6-C1EB-FA79D838FA51}"/>
              </a:ext>
            </a:extLst>
          </p:cNvPr>
          <p:cNvSpPr/>
          <p:nvPr/>
        </p:nvSpPr>
        <p:spPr>
          <a:xfrm>
            <a:off x="1257156" y="4631368"/>
            <a:ext cx="4310832" cy="369332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>
            <a:spAutoFit/>
          </a:bodyPr>
          <a:lstStyle/>
          <a:p>
            <a:r>
              <a:rPr lang="en-AU" dirty="0" err="1">
                <a:latin typeface="+mj-lt"/>
              </a:rPr>
              <a:t>nevoie</a:t>
            </a:r>
            <a:r>
              <a:rPr lang="en-AU" dirty="0">
                <a:latin typeface="+mj-lt"/>
              </a:rPr>
              <a:t> de </a:t>
            </a:r>
            <a:r>
              <a:rPr lang="en-AU" dirty="0" err="1">
                <a:latin typeface="+mj-lt"/>
              </a:rPr>
              <a:t>exemple</a:t>
            </a:r>
            <a:r>
              <a:rPr lang="en-AU" dirty="0">
                <a:latin typeface="+mj-lt"/>
              </a:rPr>
              <a:t> </a:t>
            </a:r>
            <a:r>
              <a:rPr lang="en-AU" dirty="0" err="1">
                <a:latin typeface="+mj-lt"/>
              </a:rPr>
              <a:t>clare</a:t>
            </a:r>
            <a:r>
              <a:rPr lang="en-AU" dirty="0">
                <a:latin typeface="+mj-lt"/>
              </a:rPr>
              <a:t> </a:t>
            </a:r>
            <a:r>
              <a:rPr lang="en-AU" dirty="0" err="1">
                <a:latin typeface="+mj-lt"/>
              </a:rPr>
              <a:t>și</a:t>
            </a:r>
            <a:r>
              <a:rPr lang="en-AU" dirty="0">
                <a:latin typeface="+mj-lt"/>
              </a:rPr>
              <a:t> intuitive</a:t>
            </a:r>
            <a:endParaRPr lang="en-US" dirty="0">
              <a:solidFill>
                <a:srgbClr val="142033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11901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" name="header"/>
          <p:cNvSpPr/>
          <p:nvPr/>
        </p:nvSpPr>
        <p:spPr>
          <a:xfrm>
            <a:off x="0" y="0"/>
            <a:ext cx="12192000" cy="1123950"/>
          </a:xfrm>
          <a:prstGeom prst="rect">
            <a:avLst/>
          </a:prstGeom>
          <a:solidFill>
            <a:srgbClr val="123B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orange rule"/>
          <p:cNvSpPr/>
          <p:nvPr/>
        </p:nvSpPr>
        <p:spPr>
          <a:xfrm>
            <a:off x="0" y="1123950"/>
            <a:ext cx="12192000" cy="76200"/>
          </a:xfrm>
          <a:prstGeom prst="rect">
            <a:avLst/>
          </a:prstGeom>
          <a:solidFill>
            <a:srgbClr val="F28B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right wash"/>
          <p:cNvSpPr/>
          <p:nvPr/>
        </p:nvSpPr>
        <p:spPr>
          <a:xfrm>
            <a:off x="10851127" y="0"/>
            <a:ext cx="1047750" cy="6858000"/>
          </a:xfrm>
          <a:prstGeom prst="rect">
            <a:avLst/>
          </a:prstGeom>
          <a:solidFill>
            <a:srgbClr val="EAF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blue vertical"/>
          <p:cNvSpPr/>
          <p:nvPr/>
        </p:nvSpPr>
        <p:spPr>
          <a:xfrm>
            <a:off x="10984477" y="0"/>
            <a:ext cx="47625" cy="6858000"/>
          </a:xfrm>
          <a:prstGeom prst="rect">
            <a:avLst/>
          </a:prstGeom>
          <a:solidFill>
            <a:srgbClr val="3EA7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orange vertical"/>
          <p:cNvSpPr/>
          <p:nvPr/>
        </p:nvSpPr>
        <p:spPr>
          <a:xfrm>
            <a:off x="11270227" y="0"/>
            <a:ext cx="47625" cy="6858000"/>
          </a:xfrm>
          <a:prstGeom prst="rect">
            <a:avLst/>
          </a:prstGeom>
          <a:solidFill>
            <a:srgbClr val="FFB1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orange bottom line"/>
          <p:cNvSpPr/>
          <p:nvPr/>
        </p:nvSpPr>
        <p:spPr>
          <a:xfrm>
            <a:off x="9993877" y="5962650"/>
            <a:ext cx="2190750" cy="28575"/>
          </a:xfrm>
          <a:prstGeom prst="rect">
            <a:avLst/>
          </a:prstGeom>
          <a:solidFill>
            <a:srgbClr val="FFB1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blue bottom line"/>
          <p:cNvSpPr/>
          <p:nvPr/>
        </p:nvSpPr>
        <p:spPr>
          <a:xfrm>
            <a:off x="10279627" y="6191250"/>
            <a:ext cx="1847850" cy="28575"/>
          </a:xfrm>
          <a:prstGeom prst="rect">
            <a:avLst/>
          </a:prstGeom>
          <a:solidFill>
            <a:srgbClr val="3EA7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image frame"/>
          <p:cNvSpPr/>
          <p:nvPr/>
        </p:nvSpPr>
        <p:spPr>
          <a:xfrm>
            <a:off x="6191250" y="1676400"/>
            <a:ext cx="4000500" cy="2381250"/>
          </a:xfrm>
          <a:prstGeom prst="rect">
            <a:avLst/>
          </a:prstGeom>
          <a:solidFill>
            <a:srgbClr val="FFFFFF"/>
          </a:solidFill>
          <a:ln w="0">
            <a:solidFill>
              <a:srgbClr val="7EBDE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statement panel"/>
          <p:cNvSpPr/>
          <p:nvPr/>
        </p:nvSpPr>
        <p:spPr>
          <a:xfrm>
            <a:off x="6334125" y="4552950"/>
            <a:ext cx="3714750" cy="904875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statement"/>
          <p:cNvSpPr/>
          <p:nvPr/>
        </p:nvSpPr>
        <p:spPr>
          <a:xfrm>
            <a:off x="6397572" y="5000047"/>
            <a:ext cx="4021702" cy="707886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dirty="0" err="1">
                <a:solidFill>
                  <a:srgbClr val="123B68"/>
                </a:solidFill>
                <a:latin typeface="Aptos"/>
              </a:rPr>
              <a:t>Fiecare</a:t>
            </a:r>
            <a:r>
              <a:rPr lang="en-US" sz="2000" b="1" dirty="0">
                <a:solidFill>
                  <a:srgbClr val="123B68"/>
                </a:solidFill>
                <a:latin typeface="Aptos"/>
              </a:rPr>
              <a:t> </a:t>
            </a:r>
            <a:r>
              <a:rPr lang="en-US" sz="2000" b="1" dirty="0" err="1">
                <a:solidFill>
                  <a:srgbClr val="123B68"/>
                </a:solidFill>
                <a:latin typeface="Aptos"/>
              </a:rPr>
              <a:t>nivel</a:t>
            </a:r>
            <a:r>
              <a:rPr lang="en-US" sz="2000" b="1" dirty="0">
                <a:solidFill>
                  <a:srgbClr val="123B68"/>
                </a:solidFill>
                <a:latin typeface="Aptos"/>
              </a:rPr>
              <a:t> are o idee</a:t>
            </a:r>
          </a:p>
          <a:p>
            <a:pPr algn="ctr"/>
            <a:r>
              <a:rPr lang="en-US" sz="2000" b="1" dirty="0" err="1">
                <a:solidFill>
                  <a:srgbClr val="123B68"/>
                </a:solidFill>
                <a:latin typeface="Aptos"/>
              </a:rPr>
              <a:t>si</a:t>
            </a:r>
            <a:r>
              <a:rPr lang="en-US" sz="2000" b="1" dirty="0">
                <a:solidFill>
                  <a:srgbClr val="123B68"/>
                </a:solidFill>
                <a:latin typeface="Aptos"/>
              </a:rPr>
              <a:t> o </a:t>
            </a:r>
            <a:r>
              <a:rPr lang="en-US" sz="2000" b="1" dirty="0" err="1">
                <a:solidFill>
                  <a:srgbClr val="123B68"/>
                </a:solidFill>
                <a:latin typeface="Aptos"/>
              </a:rPr>
              <a:t>regul</a:t>
            </a:r>
            <a:r>
              <a:rPr lang="ro-RO" sz="2000" b="1" dirty="0">
                <a:solidFill>
                  <a:srgbClr val="123B68"/>
                </a:solidFill>
                <a:latin typeface="Aptos"/>
              </a:rPr>
              <a:t>ă</a:t>
            </a:r>
            <a:r>
              <a:rPr lang="en-US" sz="2000" b="1" dirty="0">
                <a:solidFill>
                  <a:srgbClr val="123B68"/>
                </a:solidFill>
                <a:latin typeface="Aptos"/>
              </a:rPr>
              <a:t> </a:t>
            </a:r>
            <a:r>
              <a:rPr lang="en-US" sz="2000" b="1" dirty="0" err="1">
                <a:solidFill>
                  <a:srgbClr val="123B68"/>
                </a:solidFill>
                <a:latin typeface="Aptos"/>
              </a:rPr>
              <a:t>clar</a:t>
            </a:r>
            <a:r>
              <a:rPr lang="ro-RO" sz="2000" b="1" dirty="0">
                <a:solidFill>
                  <a:srgbClr val="123B68"/>
                </a:solidFill>
                <a:latin typeface="Aptos"/>
              </a:rPr>
              <a:t>ă</a:t>
            </a:r>
            <a:r>
              <a:rPr lang="en-US" sz="2000" b="1" dirty="0">
                <a:solidFill>
                  <a:srgbClr val="123B68"/>
                </a:solidFill>
                <a:latin typeface="Aptos"/>
              </a:rPr>
              <a:t>.</a:t>
            </a:r>
          </a:p>
        </p:txBody>
      </p:sp>
      <p:sp>
        <p:nvSpPr>
          <p:cNvPr id="30" name="footer"/>
          <p:cNvSpPr/>
          <p:nvPr/>
        </p:nvSpPr>
        <p:spPr>
          <a:xfrm>
            <a:off x="10572750" y="6419850"/>
            <a:ext cx="819150" cy="2095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416071"/>
                </a:solidFill>
                <a:latin typeface="Aptos"/>
              </a:rPr>
              <a:t>4/12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ED9731F-D9EC-D5FD-F970-C00962A7D5EB}"/>
              </a:ext>
            </a:extLst>
          </p:cNvPr>
          <p:cNvSpPr>
            <a:spLocks noGrp="1"/>
          </p:cNvSpPr>
          <p:nvPr/>
        </p:nvSpPr>
        <p:spPr>
          <a:xfrm>
            <a:off x="699878" y="1581150"/>
            <a:ext cx="5157997" cy="4076700"/>
          </a:xfrm>
          <a:prstGeom prst="roundRect">
            <a:avLst>
              <a:gd name="adj" fmla="val 3361"/>
            </a:avLst>
          </a:prstGeom>
          <a:solidFill>
            <a:srgbClr val="FFFFFF">
              <a:alpha val="90980"/>
            </a:srgbClr>
          </a:solidFill>
          <a:ln w="11430">
            <a:solidFill>
              <a:srgbClr val="9FD0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panel title"/>
          <p:cNvSpPr/>
          <p:nvPr/>
        </p:nvSpPr>
        <p:spPr>
          <a:xfrm>
            <a:off x="1066799" y="2000250"/>
            <a:ext cx="4981575" cy="5232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>
            <a:spAutoFit/>
          </a:bodyPr>
          <a:lstStyle/>
          <a:p>
            <a:pPr algn="l"/>
            <a:r>
              <a:rPr lang="en-US" sz="2800" b="1" dirty="0">
                <a:solidFill>
                  <a:srgbClr val="142033"/>
                </a:solidFill>
                <a:latin typeface="Aptos"/>
              </a:rPr>
              <a:t>Ce </a:t>
            </a:r>
            <a:r>
              <a:rPr lang="en-US" sz="2800" b="1" dirty="0" err="1">
                <a:solidFill>
                  <a:srgbClr val="142033"/>
                </a:solidFill>
                <a:latin typeface="Aptos"/>
              </a:rPr>
              <a:t>urm</a:t>
            </a:r>
            <a:r>
              <a:rPr lang="ro-RO" sz="2800" b="1" dirty="0">
                <a:solidFill>
                  <a:srgbClr val="142033"/>
                </a:solidFill>
                <a:latin typeface="Aptos"/>
              </a:rPr>
              <a:t>ă</a:t>
            </a:r>
            <a:r>
              <a:rPr lang="en-US" sz="2800" b="1" dirty="0">
                <a:solidFill>
                  <a:srgbClr val="142033"/>
                </a:solidFill>
                <a:latin typeface="Aptos"/>
              </a:rPr>
              <a:t>re</a:t>
            </a:r>
            <a:r>
              <a:rPr lang="ro-RO" sz="2800" b="1" dirty="0">
                <a:solidFill>
                  <a:srgbClr val="142033"/>
                </a:solidFill>
                <a:latin typeface="Aptos"/>
              </a:rPr>
              <a:t>ș</a:t>
            </a:r>
            <a:r>
              <a:rPr lang="en-US" sz="2800" b="1" dirty="0" err="1">
                <a:solidFill>
                  <a:srgbClr val="142033"/>
                </a:solidFill>
                <a:latin typeface="Aptos"/>
              </a:rPr>
              <a:t>te</a:t>
            </a:r>
            <a:r>
              <a:rPr lang="en-US" sz="2800" b="1" dirty="0">
                <a:solidFill>
                  <a:srgbClr val="142033"/>
                </a:solidFill>
                <a:latin typeface="Aptos"/>
              </a:rPr>
              <a:t> </a:t>
            </a:r>
            <a:r>
              <a:rPr lang="en-US" sz="2800" b="1" dirty="0" err="1">
                <a:solidFill>
                  <a:srgbClr val="142033"/>
                </a:solidFill>
                <a:latin typeface="Aptos"/>
              </a:rPr>
              <a:t>CodeScape</a:t>
            </a:r>
            <a:r>
              <a:rPr lang="en-US" sz="2800" b="1" dirty="0">
                <a:solidFill>
                  <a:srgbClr val="142033"/>
                </a:solidFill>
                <a:latin typeface="Aptos"/>
              </a:rPr>
              <a:t>?</a:t>
            </a:r>
          </a:p>
        </p:txBody>
      </p:sp>
      <p:sp>
        <p:nvSpPr>
          <p:cNvPr id="17" name="bullet text 0"/>
          <p:cNvSpPr/>
          <p:nvPr/>
        </p:nvSpPr>
        <p:spPr>
          <a:xfrm>
            <a:off x="1466850" y="2655570"/>
            <a:ext cx="3714750" cy="3238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>
            <a:spAutoFit/>
          </a:bodyPr>
          <a:lstStyle/>
          <a:p>
            <a:pPr algn="l"/>
            <a:r>
              <a:rPr lang="en-US" sz="2200" dirty="0" err="1">
                <a:solidFill>
                  <a:srgbClr val="142033"/>
                </a:solidFill>
                <a:latin typeface="Aptos"/>
              </a:rPr>
              <a:t>mediu</a:t>
            </a:r>
            <a:r>
              <a:rPr lang="en-US" sz="2200" dirty="0">
                <a:solidFill>
                  <a:srgbClr val="142033"/>
                </a:solidFill>
                <a:latin typeface="Aptos"/>
              </a:rPr>
              <a:t> 3D </a:t>
            </a:r>
            <a:r>
              <a:rPr lang="en-US" sz="2200" dirty="0" err="1">
                <a:solidFill>
                  <a:srgbClr val="142033"/>
                </a:solidFill>
                <a:latin typeface="Aptos"/>
              </a:rPr>
              <a:t>interactiv</a:t>
            </a:r>
            <a:endParaRPr lang="en-US" sz="2200" dirty="0">
              <a:solidFill>
                <a:srgbClr val="142033"/>
              </a:solidFill>
              <a:latin typeface="Aptos"/>
            </a:endParaRPr>
          </a:p>
        </p:txBody>
      </p:sp>
      <p:sp>
        <p:nvSpPr>
          <p:cNvPr id="19" name="bullet text 1"/>
          <p:cNvSpPr/>
          <p:nvPr/>
        </p:nvSpPr>
        <p:spPr>
          <a:xfrm>
            <a:off x="1466850" y="3112770"/>
            <a:ext cx="3714750" cy="3238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>
            <a:spAutoFit/>
          </a:bodyPr>
          <a:lstStyle/>
          <a:p>
            <a:pPr algn="l"/>
            <a:r>
              <a:rPr lang="en-US" sz="2200" dirty="0" err="1">
                <a:solidFill>
                  <a:srgbClr val="142033"/>
                </a:solidFill>
                <a:latin typeface="Aptos"/>
              </a:rPr>
              <a:t>cinci</a:t>
            </a:r>
            <a:r>
              <a:rPr lang="en-US" sz="2200" dirty="0">
                <a:solidFill>
                  <a:srgbClr val="142033"/>
                </a:solidFill>
                <a:latin typeface="Aptos"/>
              </a:rPr>
              <a:t> </a:t>
            </a:r>
            <a:r>
              <a:rPr lang="en-US" sz="2200" dirty="0" err="1">
                <a:solidFill>
                  <a:srgbClr val="142033"/>
                </a:solidFill>
                <a:latin typeface="Aptos"/>
              </a:rPr>
              <a:t>niveluri</a:t>
            </a:r>
            <a:r>
              <a:rPr lang="en-US" sz="2200" dirty="0">
                <a:solidFill>
                  <a:srgbClr val="142033"/>
                </a:solidFill>
                <a:latin typeface="Aptos"/>
              </a:rPr>
              <a:t> </a:t>
            </a:r>
            <a:r>
              <a:rPr lang="en-US" sz="2200" dirty="0" err="1">
                <a:solidFill>
                  <a:srgbClr val="142033"/>
                </a:solidFill>
                <a:latin typeface="Aptos"/>
              </a:rPr>
              <a:t>tematice</a:t>
            </a:r>
            <a:endParaRPr lang="en-US" sz="2200" dirty="0">
              <a:solidFill>
                <a:srgbClr val="142033"/>
              </a:solidFill>
              <a:latin typeface="Aptos"/>
            </a:endParaRPr>
          </a:p>
        </p:txBody>
      </p:sp>
      <p:sp>
        <p:nvSpPr>
          <p:cNvPr id="21" name="bullet text 2"/>
          <p:cNvSpPr/>
          <p:nvPr/>
        </p:nvSpPr>
        <p:spPr>
          <a:xfrm>
            <a:off x="1419166" y="4005091"/>
            <a:ext cx="4152900" cy="430887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>
            <a:spAutoFit/>
          </a:bodyPr>
          <a:lstStyle/>
          <a:p>
            <a:pPr algn="l"/>
            <a:r>
              <a:rPr lang="en-US" sz="2200" dirty="0">
                <a:solidFill>
                  <a:srgbClr val="142033"/>
                </a:solidFill>
                <a:latin typeface="Aptos"/>
              </a:rPr>
              <a:t>progres </a:t>
            </a:r>
            <a:r>
              <a:rPr lang="en-US" sz="2200" dirty="0" err="1">
                <a:solidFill>
                  <a:srgbClr val="142033"/>
                </a:solidFill>
                <a:latin typeface="Aptos"/>
              </a:rPr>
              <a:t>secven</a:t>
            </a:r>
            <a:r>
              <a:rPr lang="ro-RO" sz="2200" dirty="0">
                <a:solidFill>
                  <a:srgbClr val="142033"/>
                </a:solidFill>
                <a:latin typeface="Aptos"/>
              </a:rPr>
              <a:t>ț</a:t>
            </a:r>
            <a:r>
              <a:rPr lang="en-US" sz="2200" dirty="0" err="1">
                <a:solidFill>
                  <a:srgbClr val="142033"/>
                </a:solidFill>
                <a:latin typeface="Aptos"/>
              </a:rPr>
              <a:t>ial</a:t>
            </a:r>
            <a:r>
              <a:rPr lang="ro-RO" sz="2200" dirty="0">
                <a:solidFill>
                  <a:srgbClr val="142033"/>
                </a:solidFill>
                <a:latin typeface="Aptos"/>
              </a:rPr>
              <a:t> î</a:t>
            </a:r>
            <a:r>
              <a:rPr lang="en-US" sz="2200" dirty="0" err="1">
                <a:solidFill>
                  <a:srgbClr val="142033"/>
                </a:solidFill>
                <a:latin typeface="Aptos"/>
              </a:rPr>
              <a:t>ntre</a:t>
            </a:r>
            <a:r>
              <a:rPr lang="en-US" sz="2200" dirty="0">
                <a:solidFill>
                  <a:srgbClr val="142033"/>
                </a:solidFill>
                <a:latin typeface="Aptos"/>
              </a:rPr>
              <a:t> </a:t>
            </a:r>
            <a:r>
              <a:rPr lang="en-US" sz="2200" dirty="0" err="1">
                <a:solidFill>
                  <a:srgbClr val="142033"/>
                </a:solidFill>
                <a:latin typeface="Aptos"/>
              </a:rPr>
              <a:t>camere</a:t>
            </a:r>
            <a:endParaRPr lang="en-US" sz="2200" dirty="0">
              <a:solidFill>
                <a:srgbClr val="142033"/>
              </a:solidFill>
              <a:latin typeface="Aptos"/>
            </a:endParaRPr>
          </a:p>
        </p:txBody>
      </p:sp>
      <p:sp>
        <p:nvSpPr>
          <p:cNvPr id="23" name="bullet text 3"/>
          <p:cNvSpPr/>
          <p:nvPr/>
        </p:nvSpPr>
        <p:spPr>
          <a:xfrm>
            <a:off x="1431800" y="4435978"/>
            <a:ext cx="4371976" cy="430887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>
            <a:spAutoFit/>
          </a:bodyPr>
          <a:lstStyle/>
          <a:p>
            <a:pPr algn="l"/>
            <a:r>
              <a:rPr lang="en-US" sz="2200" dirty="0">
                <a:solidFill>
                  <a:srgbClr val="142033"/>
                </a:solidFill>
                <a:latin typeface="Aptos"/>
              </a:rPr>
              <a:t>feedback audio-</a:t>
            </a:r>
            <a:r>
              <a:rPr lang="en-US" sz="2200" dirty="0" err="1">
                <a:solidFill>
                  <a:srgbClr val="142033"/>
                </a:solidFill>
                <a:latin typeface="Aptos"/>
              </a:rPr>
              <a:t>vizual</a:t>
            </a:r>
            <a:r>
              <a:rPr lang="en-US" sz="2200" dirty="0">
                <a:solidFill>
                  <a:srgbClr val="142033"/>
                </a:solidFill>
                <a:latin typeface="Aptos"/>
              </a:rPr>
              <a:t> </a:t>
            </a:r>
            <a:r>
              <a:rPr lang="en-US" sz="2200" dirty="0" err="1">
                <a:solidFill>
                  <a:srgbClr val="142033"/>
                </a:solidFill>
                <a:latin typeface="Aptos"/>
              </a:rPr>
              <a:t>imediat</a:t>
            </a:r>
            <a:endParaRPr lang="en-US" sz="2200" dirty="0">
              <a:solidFill>
                <a:srgbClr val="142033"/>
              </a:solidFill>
              <a:latin typeface="Aptos"/>
            </a:endParaRPr>
          </a:p>
        </p:txBody>
      </p:sp>
      <p:sp>
        <p:nvSpPr>
          <p:cNvPr id="25" name="bullet text 4"/>
          <p:cNvSpPr/>
          <p:nvPr/>
        </p:nvSpPr>
        <p:spPr>
          <a:xfrm>
            <a:off x="1419166" y="3538062"/>
            <a:ext cx="4004186" cy="461665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>
            <a:spAutoFit/>
          </a:bodyPr>
          <a:lstStyle/>
          <a:p>
            <a:r>
              <a:rPr lang="en-AU" sz="2200" dirty="0" err="1">
                <a:solidFill>
                  <a:srgbClr val="142033"/>
                </a:solidFill>
                <a:latin typeface="Aptos"/>
              </a:rPr>
              <a:t>terminale</a:t>
            </a:r>
            <a:r>
              <a:rPr lang="en-AU" sz="2400" dirty="0"/>
              <a:t> </a:t>
            </a:r>
            <a:r>
              <a:rPr lang="en-AU" sz="2200" dirty="0">
                <a:solidFill>
                  <a:srgbClr val="142033"/>
                </a:solidFill>
                <a:latin typeface="Aptos"/>
              </a:rPr>
              <a:t>cu </a:t>
            </a:r>
            <a:r>
              <a:rPr lang="en-AU" sz="2200" dirty="0" err="1">
                <a:solidFill>
                  <a:srgbClr val="142033"/>
                </a:solidFill>
                <a:latin typeface="Aptos"/>
              </a:rPr>
              <a:t>explicații</a:t>
            </a:r>
            <a:r>
              <a:rPr lang="en-AU" sz="2200" dirty="0">
                <a:solidFill>
                  <a:srgbClr val="142033"/>
                </a:solidFill>
                <a:latin typeface="Aptos"/>
              </a:rPr>
              <a:t> </a:t>
            </a:r>
            <a:r>
              <a:rPr lang="en-AU" sz="2200" dirty="0" err="1">
                <a:solidFill>
                  <a:srgbClr val="142033"/>
                </a:solidFill>
                <a:latin typeface="Aptos"/>
              </a:rPr>
              <a:t>teoretice</a:t>
            </a:r>
            <a:endParaRPr lang="en-US" sz="2200" dirty="0">
              <a:solidFill>
                <a:srgbClr val="142033"/>
              </a:solidFill>
              <a:latin typeface="Aptos"/>
            </a:endParaRPr>
          </a:p>
        </p:txBody>
      </p:sp>
      <p:sp>
        <p:nvSpPr>
          <p:cNvPr id="16" name="bullet square 0"/>
          <p:cNvSpPr/>
          <p:nvPr/>
        </p:nvSpPr>
        <p:spPr>
          <a:xfrm>
            <a:off x="1123950" y="2781300"/>
            <a:ext cx="104775" cy="104775"/>
          </a:xfrm>
          <a:prstGeom prst="rect">
            <a:avLst/>
          </a:prstGeom>
          <a:solidFill>
            <a:srgbClr val="1E6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bullet square 1"/>
          <p:cNvSpPr/>
          <p:nvPr/>
        </p:nvSpPr>
        <p:spPr>
          <a:xfrm>
            <a:off x="1123950" y="3238500"/>
            <a:ext cx="104775" cy="104775"/>
          </a:xfrm>
          <a:prstGeom prst="rect">
            <a:avLst/>
          </a:prstGeom>
          <a:solidFill>
            <a:srgbClr val="F28B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bullet square 2"/>
          <p:cNvSpPr/>
          <p:nvPr/>
        </p:nvSpPr>
        <p:spPr>
          <a:xfrm>
            <a:off x="1123950" y="3695700"/>
            <a:ext cx="104775" cy="104775"/>
          </a:xfrm>
          <a:prstGeom prst="rect">
            <a:avLst/>
          </a:prstGeom>
          <a:solidFill>
            <a:srgbClr val="1E6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bullet square 3"/>
          <p:cNvSpPr/>
          <p:nvPr/>
        </p:nvSpPr>
        <p:spPr>
          <a:xfrm>
            <a:off x="1123950" y="4152900"/>
            <a:ext cx="104775" cy="104775"/>
          </a:xfrm>
          <a:prstGeom prst="rect">
            <a:avLst/>
          </a:prstGeom>
          <a:solidFill>
            <a:srgbClr val="F28B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bullet square 4"/>
          <p:cNvSpPr/>
          <p:nvPr/>
        </p:nvSpPr>
        <p:spPr>
          <a:xfrm>
            <a:off x="1123950" y="4610100"/>
            <a:ext cx="104775" cy="104775"/>
          </a:xfrm>
          <a:prstGeom prst="rect">
            <a:avLst/>
          </a:prstGeom>
          <a:solidFill>
            <a:srgbClr val="1E6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06D4BC4-EF0F-673A-66D6-0A3BAF96BE6D}"/>
              </a:ext>
            </a:extLst>
          </p:cNvPr>
          <p:cNvSpPr>
            <a:spLocks noGrp="1"/>
          </p:cNvSpPr>
          <p:nvPr/>
        </p:nvSpPr>
        <p:spPr>
          <a:xfrm>
            <a:off x="6052061" y="1774107"/>
            <a:ext cx="4720773" cy="2740743"/>
          </a:xfrm>
          <a:prstGeom prst="roundRect">
            <a:avLst>
              <a:gd name="adj" fmla="val 3376"/>
            </a:avLst>
          </a:prstGeom>
          <a:solidFill>
            <a:srgbClr val="FFFFFF"/>
          </a:solidFill>
          <a:ln w="11430">
            <a:solidFill>
              <a:srgbClr val="7EBDE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FF14202-5E6F-C09A-75D4-E6C4EA929A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" b="85"/>
          <a:stretch/>
        </p:blipFill>
        <p:spPr>
          <a:xfrm>
            <a:off x="6181724" y="1866900"/>
            <a:ext cx="4495798" cy="2524563"/>
          </a:xfrm>
          <a:prstGeom prst="roundRect">
            <a:avLst>
              <a:gd name="adj" fmla="val 2740"/>
            </a:avLst>
          </a:prstGeom>
        </p:spPr>
      </p:pic>
      <p:sp>
        <p:nvSpPr>
          <p:cNvPr id="41" name="statement">
            <a:extLst>
              <a:ext uri="{FF2B5EF4-FFF2-40B4-BE49-F238E27FC236}">
                <a16:creationId xmlns:a16="http://schemas.microsoft.com/office/drawing/2014/main" id="{D794C930-3982-ECE3-4EC0-0872F743B172}"/>
              </a:ext>
            </a:extLst>
          </p:cNvPr>
          <p:cNvSpPr/>
          <p:nvPr/>
        </p:nvSpPr>
        <p:spPr>
          <a:xfrm>
            <a:off x="6418772" y="4504747"/>
            <a:ext cx="4021702" cy="307777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ro-RO" sz="1400" dirty="0">
                <a:solidFill>
                  <a:srgbClr val="123B68"/>
                </a:solidFill>
                <a:latin typeface="Aptos"/>
              </a:rPr>
              <a:t>Nivel 3 – Stivă (Regula LIFO)</a:t>
            </a:r>
            <a:endParaRPr lang="en-US" sz="1400" dirty="0">
              <a:solidFill>
                <a:srgbClr val="123B68"/>
              </a:solidFill>
              <a:latin typeface="Apto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A38B839-E82B-58E9-DC7B-20388F33F1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744161" y="123372"/>
            <a:ext cx="2290523" cy="78307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1240AF1-9033-C01F-2830-43387B81414B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B15F"/>
                </a:solidFill>
                <a:latin typeface="Aptos"/>
                <a:ea typeface="Aptos"/>
                <a:cs typeface="Aptos"/>
              </a:defRPr>
            </a:pPr>
            <a:r>
              <a:rPr sz="975" b="1" dirty="0">
                <a:solidFill>
                  <a:srgbClr val="FFB15F"/>
                </a:solidFill>
                <a:latin typeface="Aptos"/>
                <a:ea typeface="Aptos"/>
                <a:cs typeface="Aptos"/>
              </a:rPr>
              <a:t>CODESCAPE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10A9CC2-A71C-44AC-343D-6232A37B8B5B}"/>
              </a:ext>
            </a:extLst>
          </p:cNvPr>
          <p:cNvSpPr>
            <a:spLocks noGrp="1"/>
          </p:cNvSpPr>
          <p:nvPr/>
        </p:nvSpPr>
        <p:spPr>
          <a:xfrm>
            <a:off x="514350" y="523875"/>
            <a:ext cx="833437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ro-RO" sz="2475" b="1" dirty="0">
                <a:solidFill>
                  <a:srgbClr val="FFFFFF"/>
                </a:solidFill>
                <a:latin typeface="Aptos"/>
              </a:rPr>
              <a:t>Obiectivele aplicației</a:t>
            </a:r>
            <a:endParaRPr sz="2475" b="1" dirty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6F049530-FCAC-44BD-9A94-B91EB60473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AFDFAF-F95C-4143-9BCD-C6F47E1892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23950"/>
          </a:xfrm>
          <a:prstGeom prst="rect">
            <a:avLst/>
          </a:prstGeom>
          <a:solidFill>
            <a:srgbClr val="123B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AFEF23-F4C7-4D53-A03E-5CD728D570D2}"/>
              </a:ext>
            </a:extLst>
          </p:cNvPr>
          <p:cNvSpPr>
            <a:spLocks noGrp="1"/>
          </p:cNvSpPr>
          <p:nvPr/>
        </p:nvSpPr>
        <p:spPr>
          <a:xfrm>
            <a:off x="0" y="1123950"/>
            <a:ext cx="12192000" cy="76200"/>
          </a:xfrm>
          <a:prstGeom prst="rect">
            <a:avLst/>
          </a:prstGeom>
          <a:solidFill>
            <a:srgbClr val="F28B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E506FC-908A-4EE4-8CD7-C7C97DB8D24C}"/>
              </a:ext>
            </a:extLst>
          </p:cNvPr>
          <p:cNvSpPr>
            <a:spLocks noGrp="1"/>
          </p:cNvSpPr>
          <p:nvPr/>
        </p:nvSpPr>
        <p:spPr>
          <a:xfrm>
            <a:off x="10477500" y="0"/>
            <a:ext cx="1047750" cy="6858000"/>
          </a:xfrm>
          <a:prstGeom prst="rect">
            <a:avLst/>
          </a:prstGeom>
          <a:solidFill>
            <a:srgbClr val="EAF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4D2D69-249B-4722-89E3-0C4EB84C6C9A}"/>
              </a:ext>
            </a:extLst>
          </p:cNvPr>
          <p:cNvSpPr>
            <a:spLocks noGrp="1"/>
          </p:cNvSpPr>
          <p:nvPr/>
        </p:nvSpPr>
        <p:spPr>
          <a:xfrm>
            <a:off x="10610850" y="0"/>
            <a:ext cx="47625" cy="6858000"/>
          </a:xfrm>
          <a:prstGeom prst="rect">
            <a:avLst/>
          </a:prstGeom>
          <a:solidFill>
            <a:srgbClr val="3EA7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18BE12-8D59-4BA1-BBAD-AE8916FA3815}"/>
              </a:ext>
            </a:extLst>
          </p:cNvPr>
          <p:cNvSpPr>
            <a:spLocks noGrp="1"/>
          </p:cNvSpPr>
          <p:nvPr/>
        </p:nvSpPr>
        <p:spPr>
          <a:xfrm>
            <a:off x="10896600" y="0"/>
            <a:ext cx="47625" cy="6858000"/>
          </a:xfrm>
          <a:prstGeom prst="rect">
            <a:avLst/>
          </a:prstGeom>
          <a:solidFill>
            <a:srgbClr val="FFB1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197B93-C301-45A2-8382-7BC5B7ED4AC0}"/>
              </a:ext>
            </a:extLst>
          </p:cNvPr>
          <p:cNvSpPr>
            <a:spLocks noGrp="1"/>
          </p:cNvSpPr>
          <p:nvPr/>
        </p:nvSpPr>
        <p:spPr>
          <a:xfrm>
            <a:off x="9972675" y="6162675"/>
            <a:ext cx="1847850" cy="28575"/>
          </a:xfrm>
          <a:prstGeom prst="rect">
            <a:avLst/>
          </a:prstGeom>
          <a:solidFill>
            <a:srgbClr val="3EA7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23B17C-BF31-473B-9306-46178808236F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B1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B15F"/>
                </a:solidFill>
                <a:latin typeface="Aptos"/>
                <a:ea typeface="Aptos"/>
                <a:cs typeface="Aptos"/>
              </a:rPr>
              <a:t>CODESCAPE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B40FDE-F415-4233-A6B4-6FECC7730FC9}"/>
              </a:ext>
            </a:extLst>
          </p:cNvPr>
          <p:cNvSpPr>
            <a:spLocks noGrp="1"/>
          </p:cNvSpPr>
          <p:nvPr/>
        </p:nvSpPr>
        <p:spPr>
          <a:xfrm>
            <a:off x="514350" y="523875"/>
            <a:ext cx="833437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Tehnologii utilizate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C2EBDA-2E76-4C2C-8616-5C8BE325894A}"/>
              </a:ext>
            </a:extLst>
          </p:cNvPr>
          <p:cNvSpPr>
            <a:spLocks noGrp="1"/>
          </p:cNvSpPr>
          <p:nvPr/>
        </p:nvSpPr>
        <p:spPr>
          <a:xfrm>
            <a:off x="10572750" y="6419850"/>
            <a:ext cx="819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41607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16071"/>
                </a:solidFill>
                <a:latin typeface="Aptos"/>
                <a:ea typeface="Aptos"/>
                <a:cs typeface="Aptos"/>
              </a:rPr>
              <a:t>6/12</a:t>
            </a:r>
          </a:p>
        </p:txBody>
      </p:sp>
      <p:sp>
        <p:nvSpPr>
          <p:cNvPr id="120" name="Card dezvoltare">
            <a:extLst>
              <a:ext uri="{FF2B5EF4-FFF2-40B4-BE49-F238E27FC236}">
                <a16:creationId xmlns:a16="http://schemas.microsoft.com/office/drawing/2014/main" id="{24E8E001-95C1-4499-A0C8-6B892BBFBD9C}"/>
              </a:ext>
            </a:extLst>
          </p:cNvPr>
          <p:cNvSpPr>
            <a:spLocks noGrp="1"/>
          </p:cNvSpPr>
          <p:nvPr/>
        </p:nvSpPr>
        <p:spPr>
          <a:xfrm>
            <a:off x="610000" y="1716479"/>
            <a:ext cx="5480000" cy="406489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1430">
            <a:solidFill>
              <a:srgbClr val="9FD0EC"/>
            </a:solidFill>
            <a:prstDash val="solid"/>
          </a:ln>
        </p:spPr>
        <p:txBody>
          <a:bodyPr/>
          <a:lstStyle/>
          <a:p>
            <a:endParaRPr lang="en-AU" dirty="0"/>
          </a:p>
        </p:txBody>
      </p:sp>
      <p:sp>
        <p:nvSpPr>
          <p:cNvPr id="121" name="Card design">
            <a:extLst>
              <a:ext uri="{FF2B5EF4-FFF2-40B4-BE49-F238E27FC236}">
                <a16:creationId xmlns:a16="http://schemas.microsoft.com/office/drawing/2014/main" id="{098306EB-2931-43D6-BE37-233D29888D1C}"/>
              </a:ext>
            </a:extLst>
          </p:cNvPr>
          <p:cNvSpPr>
            <a:spLocks noGrp="1"/>
          </p:cNvSpPr>
          <p:nvPr/>
        </p:nvSpPr>
        <p:spPr>
          <a:xfrm>
            <a:off x="6400000" y="1509999"/>
            <a:ext cx="3537500" cy="2289501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1430">
            <a:solidFill>
              <a:srgbClr val="9FD0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2" name="Card audio">
            <a:extLst>
              <a:ext uri="{FF2B5EF4-FFF2-40B4-BE49-F238E27FC236}">
                <a16:creationId xmlns:a16="http://schemas.microsoft.com/office/drawing/2014/main" id="{41418A0A-FCD2-434F-88E4-AE5A6E6BA692}"/>
              </a:ext>
            </a:extLst>
          </p:cNvPr>
          <p:cNvSpPr>
            <a:spLocks noGrp="1"/>
          </p:cNvSpPr>
          <p:nvPr/>
        </p:nvSpPr>
        <p:spPr>
          <a:xfrm>
            <a:off x="6399999" y="4041781"/>
            <a:ext cx="3496475" cy="2044387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1430">
            <a:solidFill>
              <a:srgbClr val="9FD0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3" name="Header dezvoltare">
            <a:extLst>
              <a:ext uri="{FF2B5EF4-FFF2-40B4-BE49-F238E27FC236}">
                <a16:creationId xmlns:a16="http://schemas.microsoft.com/office/drawing/2014/main" id="{9708FAED-9E41-416F-BDC9-74386B494B79}"/>
              </a:ext>
            </a:extLst>
          </p:cNvPr>
          <p:cNvSpPr>
            <a:spLocks noGrp="1"/>
          </p:cNvSpPr>
          <p:nvPr/>
        </p:nvSpPr>
        <p:spPr>
          <a:xfrm>
            <a:off x="900000" y="1918132"/>
            <a:ext cx="4200000" cy="33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3B68"/>
                </a:solidFill>
                <a:latin typeface="Aptos"/>
                <a:ea typeface="Aptos"/>
                <a:cs typeface="Aptos"/>
              </a:defRPr>
            </a:pPr>
            <a:r>
              <a:rPr sz="2400" b="1" dirty="0" err="1">
                <a:solidFill>
                  <a:srgbClr val="123B68"/>
                </a:solidFill>
                <a:latin typeface="Aptos"/>
                <a:ea typeface="Aptos"/>
                <a:cs typeface="Aptos"/>
              </a:rPr>
              <a:t>Dezvoltarea</a:t>
            </a:r>
            <a:r>
              <a:rPr sz="2400" b="1" dirty="0">
                <a:solidFill>
                  <a:srgbClr val="123B68"/>
                </a:solidFill>
                <a:latin typeface="Aptos"/>
                <a:ea typeface="Aptos"/>
                <a:cs typeface="Aptos"/>
              </a:rPr>
              <a:t> </a:t>
            </a:r>
            <a:r>
              <a:rPr sz="2400" b="1" dirty="0" err="1">
                <a:solidFill>
                  <a:srgbClr val="123B68"/>
                </a:solidFill>
                <a:latin typeface="Aptos"/>
                <a:ea typeface="Aptos"/>
                <a:cs typeface="Aptos"/>
              </a:rPr>
              <a:t>aplica</a:t>
            </a:r>
            <a:r>
              <a:rPr lang="ro-RO" sz="2400" b="1" dirty="0">
                <a:solidFill>
                  <a:srgbClr val="123B68"/>
                </a:solidFill>
                <a:latin typeface="Aptos"/>
                <a:ea typeface="Aptos"/>
                <a:cs typeface="Aptos"/>
              </a:rPr>
              <a:t>ț</a:t>
            </a:r>
            <a:r>
              <a:rPr sz="2400" b="1" dirty="0" err="1">
                <a:solidFill>
                  <a:srgbClr val="123B68"/>
                </a:solidFill>
                <a:latin typeface="Aptos"/>
                <a:ea typeface="Aptos"/>
                <a:cs typeface="Aptos"/>
              </a:rPr>
              <a:t>iei</a:t>
            </a:r>
            <a:endParaRPr sz="2400" b="1" dirty="0">
              <a:solidFill>
                <a:srgbClr val="123B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4" name="Header design">
            <a:extLst>
              <a:ext uri="{FF2B5EF4-FFF2-40B4-BE49-F238E27FC236}">
                <a16:creationId xmlns:a16="http://schemas.microsoft.com/office/drawing/2014/main" id="{2ABFC5BA-946E-4F67-83C3-62D2B540AA5C}"/>
              </a:ext>
            </a:extLst>
          </p:cNvPr>
          <p:cNvSpPr>
            <a:spLocks noGrp="1"/>
          </p:cNvSpPr>
          <p:nvPr/>
        </p:nvSpPr>
        <p:spPr>
          <a:xfrm>
            <a:off x="6730000" y="1671830"/>
            <a:ext cx="2700000" cy="33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3B68"/>
                </a:solidFill>
                <a:latin typeface="Aptos"/>
                <a:ea typeface="Aptos"/>
                <a:cs typeface="Aptos"/>
              </a:defRPr>
            </a:pPr>
            <a:r>
              <a:rPr sz="2400" b="1" dirty="0">
                <a:solidFill>
                  <a:srgbClr val="123B68"/>
                </a:solidFill>
                <a:latin typeface="Aptos"/>
                <a:ea typeface="Aptos"/>
                <a:cs typeface="Aptos"/>
              </a:rPr>
              <a:t>Design </a:t>
            </a:r>
            <a:r>
              <a:rPr sz="2400" b="1" dirty="0" err="1">
                <a:solidFill>
                  <a:srgbClr val="123B68"/>
                </a:solidFill>
                <a:latin typeface="Aptos"/>
                <a:ea typeface="Aptos"/>
                <a:cs typeface="Aptos"/>
              </a:rPr>
              <a:t>vizual</a:t>
            </a:r>
            <a:endParaRPr sz="2400" b="1" dirty="0">
              <a:solidFill>
                <a:srgbClr val="123B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5" name="Header audio">
            <a:extLst>
              <a:ext uri="{FF2B5EF4-FFF2-40B4-BE49-F238E27FC236}">
                <a16:creationId xmlns:a16="http://schemas.microsoft.com/office/drawing/2014/main" id="{56477E4F-2FBB-4E0D-9725-3674ABF01560}"/>
              </a:ext>
            </a:extLst>
          </p:cNvPr>
          <p:cNvSpPr>
            <a:spLocks noGrp="1"/>
          </p:cNvSpPr>
          <p:nvPr/>
        </p:nvSpPr>
        <p:spPr>
          <a:xfrm>
            <a:off x="6708488" y="4271631"/>
            <a:ext cx="2700000" cy="33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3B68"/>
                </a:solidFill>
                <a:latin typeface="Aptos"/>
                <a:ea typeface="Aptos"/>
                <a:cs typeface="Aptos"/>
              </a:defRPr>
            </a:pPr>
            <a:r>
              <a:rPr sz="2400" b="1" dirty="0">
                <a:solidFill>
                  <a:srgbClr val="123B68"/>
                </a:solidFill>
                <a:latin typeface="Aptos"/>
                <a:ea typeface="Aptos"/>
                <a:cs typeface="Aptos"/>
              </a:rPr>
              <a:t>Audi</a:t>
            </a:r>
            <a:r>
              <a:rPr lang="ro-RO" sz="2400" b="1" dirty="0">
                <a:solidFill>
                  <a:srgbClr val="123B68"/>
                </a:solidFill>
                <a:latin typeface="Aptos"/>
                <a:ea typeface="Aptos"/>
                <a:cs typeface="Aptos"/>
              </a:rPr>
              <a:t>o</a:t>
            </a:r>
            <a:endParaRPr sz="2400" b="1" dirty="0">
              <a:solidFill>
                <a:srgbClr val="123B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0" name="Accent">
            <a:extLst>
              <a:ext uri="{FF2B5EF4-FFF2-40B4-BE49-F238E27FC236}">
                <a16:creationId xmlns:a16="http://schemas.microsoft.com/office/drawing/2014/main" id="{0B6FC01A-7B9E-437E-A46E-8C72C4B07FAF}"/>
              </a:ext>
            </a:extLst>
          </p:cNvPr>
          <p:cNvSpPr>
            <a:spLocks noGrp="1"/>
          </p:cNvSpPr>
          <p:nvPr/>
        </p:nvSpPr>
        <p:spPr>
          <a:xfrm>
            <a:off x="920000" y="2576479"/>
            <a:ext cx="115000" cy="115000"/>
          </a:xfrm>
          <a:prstGeom prst="rect">
            <a:avLst/>
          </a:prstGeom>
          <a:solidFill>
            <a:srgbClr val="1E6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1" name="Tech title">
            <a:extLst>
              <a:ext uri="{FF2B5EF4-FFF2-40B4-BE49-F238E27FC236}">
                <a16:creationId xmlns:a16="http://schemas.microsoft.com/office/drawing/2014/main" id="{6D0DD54C-DDFF-416C-AF16-5B56AB2B9FC9}"/>
              </a:ext>
            </a:extLst>
          </p:cNvPr>
          <p:cNvSpPr>
            <a:spLocks noGrp="1"/>
          </p:cNvSpPr>
          <p:nvPr/>
        </p:nvSpPr>
        <p:spPr>
          <a:xfrm>
            <a:off x="1177500" y="2505563"/>
            <a:ext cx="4300000" cy="33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E67B2"/>
                </a:solidFill>
                <a:latin typeface="Aptos"/>
                <a:ea typeface="Aptos"/>
                <a:cs typeface="Aptos"/>
              </a:defRPr>
            </a:pPr>
            <a:r>
              <a:rPr sz="2000" b="1" dirty="0">
                <a:solidFill>
                  <a:srgbClr val="1E67B2"/>
                </a:solidFill>
                <a:latin typeface="Aptos"/>
                <a:ea typeface="Aptos"/>
                <a:cs typeface="Aptos"/>
              </a:rPr>
              <a:t>Unity 2022.3 LTS</a:t>
            </a:r>
          </a:p>
        </p:txBody>
      </p:sp>
      <p:sp>
        <p:nvSpPr>
          <p:cNvPr id="133" name="Separator">
            <a:extLst>
              <a:ext uri="{FF2B5EF4-FFF2-40B4-BE49-F238E27FC236}">
                <a16:creationId xmlns:a16="http://schemas.microsoft.com/office/drawing/2014/main" id="{9A24A36C-BFFE-4428-A709-0F8B6BDC7D79}"/>
              </a:ext>
            </a:extLst>
          </p:cNvPr>
          <p:cNvSpPr>
            <a:spLocks noGrp="1"/>
          </p:cNvSpPr>
          <p:nvPr/>
        </p:nvSpPr>
        <p:spPr>
          <a:xfrm>
            <a:off x="900000" y="3266479"/>
            <a:ext cx="4650000" cy="10000"/>
          </a:xfrm>
          <a:prstGeom prst="rect">
            <a:avLst/>
          </a:prstGeom>
          <a:solidFill>
            <a:srgbClr val="CFE7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4" name="Accent">
            <a:extLst>
              <a:ext uri="{FF2B5EF4-FFF2-40B4-BE49-F238E27FC236}">
                <a16:creationId xmlns:a16="http://schemas.microsoft.com/office/drawing/2014/main" id="{313CC17E-E633-4087-8050-9E72FBC795F6}"/>
              </a:ext>
            </a:extLst>
          </p:cNvPr>
          <p:cNvSpPr>
            <a:spLocks noGrp="1"/>
          </p:cNvSpPr>
          <p:nvPr/>
        </p:nvSpPr>
        <p:spPr>
          <a:xfrm>
            <a:off x="920000" y="3572787"/>
            <a:ext cx="115000" cy="115000"/>
          </a:xfrm>
          <a:prstGeom prst="rect">
            <a:avLst/>
          </a:prstGeom>
          <a:solidFill>
            <a:srgbClr val="F28B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5" name="Tech title">
            <a:extLst>
              <a:ext uri="{FF2B5EF4-FFF2-40B4-BE49-F238E27FC236}">
                <a16:creationId xmlns:a16="http://schemas.microsoft.com/office/drawing/2014/main" id="{00D9F021-51FE-4FFD-AFF7-0512AB7A7C05}"/>
              </a:ext>
            </a:extLst>
          </p:cNvPr>
          <p:cNvSpPr>
            <a:spLocks noGrp="1"/>
          </p:cNvSpPr>
          <p:nvPr/>
        </p:nvSpPr>
        <p:spPr>
          <a:xfrm>
            <a:off x="1120000" y="3502787"/>
            <a:ext cx="4300000" cy="29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28B2E"/>
                </a:solidFill>
                <a:latin typeface="Aptos"/>
                <a:ea typeface="Aptos"/>
                <a:cs typeface="Aptos"/>
              </a:defRPr>
            </a:pPr>
            <a:r>
              <a:rPr sz="2000" b="1" dirty="0">
                <a:solidFill>
                  <a:srgbClr val="F28B2E"/>
                </a:solidFill>
                <a:latin typeface="Aptos"/>
                <a:ea typeface="Aptos"/>
                <a:cs typeface="Aptos"/>
              </a:rPr>
              <a:t>C#</a:t>
            </a:r>
          </a:p>
        </p:txBody>
      </p:sp>
      <p:sp>
        <p:nvSpPr>
          <p:cNvPr id="136" name="Tech desc">
            <a:extLst>
              <a:ext uri="{FF2B5EF4-FFF2-40B4-BE49-F238E27FC236}">
                <a16:creationId xmlns:a16="http://schemas.microsoft.com/office/drawing/2014/main" id="{603B8040-AA98-4038-84BD-36CBD8A69222}"/>
              </a:ext>
            </a:extLst>
          </p:cNvPr>
          <p:cNvSpPr>
            <a:spLocks noGrp="1"/>
          </p:cNvSpPr>
          <p:nvPr/>
        </p:nvSpPr>
        <p:spPr>
          <a:xfrm>
            <a:off x="1075000" y="3866587"/>
            <a:ext cx="4300000" cy="338554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>
            <a:spAutoFit/>
          </a:bodyPr>
          <a:lstStyle/>
          <a:p>
            <a:r>
              <a:rPr sz="1600" dirty="0" err="1">
                <a:solidFill>
                  <a:srgbClr val="142033"/>
                </a:solidFill>
                <a:latin typeface="Aptos"/>
              </a:rPr>
              <a:t>logica</a:t>
            </a:r>
            <a:r>
              <a:rPr sz="1600" dirty="0">
                <a:solidFill>
                  <a:srgbClr val="142033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142033"/>
                </a:solidFill>
                <a:latin typeface="Aptos"/>
              </a:rPr>
              <a:t>jocului</a:t>
            </a:r>
            <a:r>
              <a:rPr lang="ro-RO" sz="1600" dirty="0">
                <a:solidFill>
                  <a:srgbClr val="142033"/>
                </a:solidFill>
                <a:latin typeface="Aptos"/>
              </a:rPr>
              <a:t> - clase cu responsabilități clare</a:t>
            </a:r>
            <a:endParaRPr sz="1600" dirty="0">
              <a:solidFill>
                <a:srgbClr val="142033"/>
              </a:solidFill>
              <a:latin typeface="Aptos"/>
            </a:endParaRPr>
          </a:p>
        </p:txBody>
      </p:sp>
      <p:sp>
        <p:nvSpPr>
          <p:cNvPr id="137" name="Separator">
            <a:extLst>
              <a:ext uri="{FF2B5EF4-FFF2-40B4-BE49-F238E27FC236}">
                <a16:creationId xmlns:a16="http://schemas.microsoft.com/office/drawing/2014/main" id="{407DC50D-9D07-4343-B463-4C648F31D803}"/>
              </a:ext>
            </a:extLst>
          </p:cNvPr>
          <p:cNvSpPr>
            <a:spLocks noGrp="1"/>
          </p:cNvSpPr>
          <p:nvPr/>
        </p:nvSpPr>
        <p:spPr>
          <a:xfrm>
            <a:off x="900000" y="4262787"/>
            <a:ext cx="4650000" cy="10000"/>
          </a:xfrm>
          <a:prstGeom prst="rect">
            <a:avLst/>
          </a:prstGeom>
          <a:solidFill>
            <a:srgbClr val="CFE7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8" name="Accent">
            <a:extLst>
              <a:ext uri="{FF2B5EF4-FFF2-40B4-BE49-F238E27FC236}">
                <a16:creationId xmlns:a16="http://schemas.microsoft.com/office/drawing/2014/main" id="{E1C48C54-1E9D-41B3-B346-4E49F9CEC87E}"/>
              </a:ext>
            </a:extLst>
          </p:cNvPr>
          <p:cNvSpPr>
            <a:spLocks noGrp="1"/>
          </p:cNvSpPr>
          <p:nvPr/>
        </p:nvSpPr>
        <p:spPr>
          <a:xfrm>
            <a:off x="920000" y="4716585"/>
            <a:ext cx="115000" cy="115000"/>
          </a:xfrm>
          <a:prstGeom prst="rect">
            <a:avLst/>
          </a:prstGeom>
          <a:solidFill>
            <a:srgbClr val="1E6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9" name="Tech title">
            <a:extLst>
              <a:ext uri="{FF2B5EF4-FFF2-40B4-BE49-F238E27FC236}">
                <a16:creationId xmlns:a16="http://schemas.microsoft.com/office/drawing/2014/main" id="{58B23EFF-C94C-4AF4-A79E-A3E25E9A13FA}"/>
              </a:ext>
            </a:extLst>
          </p:cNvPr>
          <p:cNvSpPr>
            <a:spLocks noGrp="1"/>
          </p:cNvSpPr>
          <p:nvPr/>
        </p:nvSpPr>
        <p:spPr>
          <a:xfrm>
            <a:off x="1120000" y="4646585"/>
            <a:ext cx="4300000" cy="29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E67B2"/>
                </a:solidFill>
                <a:latin typeface="Aptos"/>
                <a:ea typeface="Aptos"/>
                <a:cs typeface="Aptos"/>
              </a:defRPr>
            </a:pPr>
            <a:r>
              <a:rPr sz="2000" b="1" dirty="0" err="1">
                <a:solidFill>
                  <a:srgbClr val="1E67B2"/>
                </a:solidFill>
                <a:latin typeface="Aptos"/>
                <a:ea typeface="Aptos"/>
                <a:cs typeface="Aptos"/>
              </a:rPr>
              <a:t>TextMeshPro</a:t>
            </a:r>
            <a:endParaRPr sz="2000" b="1" dirty="0">
              <a:solidFill>
                <a:srgbClr val="1E67B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0" name="Tech desc">
            <a:extLst>
              <a:ext uri="{FF2B5EF4-FFF2-40B4-BE49-F238E27FC236}">
                <a16:creationId xmlns:a16="http://schemas.microsoft.com/office/drawing/2014/main" id="{2EBE75EF-71E8-4609-8123-ECC25638DB7D}"/>
              </a:ext>
            </a:extLst>
          </p:cNvPr>
          <p:cNvSpPr>
            <a:spLocks noGrp="1"/>
          </p:cNvSpPr>
          <p:nvPr/>
        </p:nvSpPr>
        <p:spPr>
          <a:xfrm>
            <a:off x="1075000" y="5039713"/>
            <a:ext cx="4300000" cy="338554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>
            <a:spAutoFit/>
          </a:bodyPr>
          <a:lstStyle/>
          <a:p>
            <a:r>
              <a:rPr sz="1600" dirty="0" err="1">
                <a:solidFill>
                  <a:srgbClr val="142033"/>
                </a:solidFill>
                <a:latin typeface="Aptos"/>
              </a:rPr>
              <a:t>texte</a:t>
            </a:r>
            <a:r>
              <a:rPr sz="1600" dirty="0">
                <a:solidFill>
                  <a:srgbClr val="142033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142033"/>
                </a:solidFill>
                <a:latin typeface="Aptos"/>
              </a:rPr>
              <a:t>clare</a:t>
            </a:r>
            <a:r>
              <a:rPr sz="1600" dirty="0">
                <a:solidFill>
                  <a:srgbClr val="142033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142033"/>
                </a:solidFill>
                <a:latin typeface="Aptos"/>
              </a:rPr>
              <a:t>pentru</a:t>
            </a:r>
            <a:r>
              <a:rPr sz="1600" dirty="0">
                <a:solidFill>
                  <a:srgbClr val="142033"/>
                </a:solidFill>
                <a:latin typeface="Aptos"/>
              </a:rPr>
              <a:t> UI, </a:t>
            </a:r>
            <a:r>
              <a:rPr sz="1600" dirty="0" err="1">
                <a:solidFill>
                  <a:srgbClr val="142033"/>
                </a:solidFill>
                <a:latin typeface="Aptos"/>
              </a:rPr>
              <a:t>terminale</a:t>
            </a:r>
            <a:r>
              <a:rPr sz="1600" dirty="0">
                <a:solidFill>
                  <a:srgbClr val="142033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142033"/>
                </a:solidFill>
                <a:latin typeface="Aptos"/>
              </a:rPr>
              <a:t>si</a:t>
            </a:r>
            <a:r>
              <a:rPr sz="1600" dirty="0">
                <a:solidFill>
                  <a:srgbClr val="142033"/>
                </a:solidFill>
                <a:latin typeface="Aptos"/>
              </a:rPr>
              <a:t> feedback</a:t>
            </a:r>
          </a:p>
        </p:txBody>
      </p:sp>
      <p:sp>
        <p:nvSpPr>
          <p:cNvPr id="141" name="Separator">
            <a:extLst>
              <a:ext uri="{FF2B5EF4-FFF2-40B4-BE49-F238E27FC236}">
                <a16:creationId xmlns:a16="http://schemas.microsoft.com/office/drawing/2014/main" id="{A41E1F48-FB23-471F-B3AF-0409A9AAE29D}"/>
              </a:ext>
            </a:extLst>
          </p:cNvPr>
          <p:cNvSpPr>
            <a:spLocks noGrp="1"/>
          </p:cNvSpPr>
          <p:nvPr/>
        </p:nvSpPr>
        <p:spPr>
          <a:xfrm>
            <a:off x="900000" y="5475411"/>
            <a:ext cx="4650000" cy="10000"/>
          </a:xfrm>
          <a:prstGeom prst="rect">
            <a:avLst/>
          </a:prstGeom>
          <a:solidFill>
            <a:srgbClr val="CFE7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0" name="Accent design">
            <a:extLst>
              <a:ext uri="{FF2B5EF4-FFF2-40B4-BE49-F238E27FC236}">
                <a16:creationId xmlns:a16="http://schemas.microsoft.com/office/drawing/2014/main" id="{1CF96E72-9A79-46BF-B800-ECEB0BEB72A0}"/>
              </a:ext>
            </a:extLst>
          </p:cNvPr>
          <p:cNvSpPr>
            <a:spLocks noGrp="1"/>
          </p:cNvSpPr>
          <p:nvPr/>
        </p:nvSpPr>
        <p:spPr>
          <a:xfrm>
            <a:off x="6720000" y="2360000"/>
            <a:ext cx="115000" cy="115000"/>
          </a:xfrm>
          <a:prstGeom prst="rect">
            <a:avLst/>
          </a:prstGeom>
          <a:solidFill>
            <a:srgbClr val="F28B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1" name="Asset title">
            <a:extLst>
              <a:ext uri="{FF2B5EF4-FFF2-40B4-BE49-F238E27FC236}">
                <a16:creationId xmlns:a16="http://schemas.microsoft.com/office/drawing/2014/main" id="{D656ADF5-DE26-4EB2-B438-8C79ED1D80F9}"/>
              </a:ext>
            </a:extLst>
          </p:cNvPr>
          <p:cNvSpPr>
            <a:spLocks noGrp="1"/>
          </p:cNvSpPr>
          <p:nvPr/>
        </p:nvSpPr>
        <p:spPr>
          <a:xfrm>
            <a:off x="6950000" y="2260000"/>
            <a:ext cx="2550000" cy="33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sz="2000" b="1" dirty="0">
                <a:solidFill>
                  <a:srgbClr val="F28B2E"/>
                </a:solidFill>
                <a:latin typeface="Aptos"/>
              </a:rPr>
              <a:t>Sci-Fi Styled Modular Pack</a:t>
            </a:r>
          </a:p>
        </p:txBody>
      </p:sp>
      <p:sp>
        <p:nvSpPr>
          <p:cNvPr id="162" name="Asset desc">
            <a:extLst>
              <a:ext uri="{FF2B5EF4-FFF2-40B4-BE49-F238E27FC236}">
                <a16:creationId xmlns:a16="http://schemas.microsoft.com/office/drawing/2014/main" id="{003577B9-F0B2-4332-AF57-F99C41DEE865}"/>
              </a:ext>
            </a:extLst>
          </p:cNvPr>
          <p:cNvSpPr>
            <a:spLocks noGrp="1"/>
          </p:cNvSpPr>
          <p:nvPr/>
        </p:nvSpPr>
        <p:spPr>
          <a:xfrm>
            <a:off x="6742463" y="2930869"/>
            <a:ext cx="3001698" cy="584775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>
            <a:spAutoFit/>
          </a:bodyPr>
          <a:lstStyle/>
          <a:p>
            <a:r>
              <a:rPr sz="1600" dirty="0">
                <a:solidFill>
                  <a:srgbClr val="142033"/>
                </a:solidFill>
                <a:latin typeface="Aptos"/>
              </a:rPr>
              <a:t>asset 3D </a:t>
            </a:r>
            <a:r>
              <a:rPr sz="1600" dirty="0" err="1">
                <a:solidFill>
                  <a:srgbClr val="142033"/>
                </a:solidFill>
                <a:latin typeface="Aptos"/>
              </a:rPr>
              <a:t>gratuit</a:t>
            </a:r>
            <a:r>
              <a:rPr sz="1600" dirty="0">
                <a:solidFill>
                  <a:srgbClr val="142033"/>
                </a:solidFill>
                <a:latin typeface="Aptos"/>
              </a:rPr>
              <a:t> din Unity Asset Store</a:t>
            </a:r>
            <a:r>
              <a:rPr lang="en-AU" sz="1600" dirty="0">
                <a:solidFill>
                  <a:srgbClr val="142033"/>
                </a:solidFill>
                <a:latin typeface="Aptos"/>
              </a:rPr>
              <a:t> – </a:t>
            </a:r>
            <a:r>
              <a:rPr lang="en-AU" sz="1600" dirty="0" err="1">
                <a:solidFill>
                  <a:srgbClr val="142033"/>
                </a:solidFill>
                <a:latin typeface="Aptos"/>
              </a:rPr>
              <a:t>baza</a:t>
            </a:r>
            <a:r>
              <a:rPr lang="en-AU" sz="1600" dirty="0">
                <a:solidFill>
                  <a:srgbClr val="142033"/>
                </a:solidFill>
                <a:latin typeface="Aptos"/>
              </a:rPr>
              <a:t> </a:t>
            </a:r>
            <a:r>
              <a:rPr lang="en-AU" sz="1600" dirty="0" err="1">
                <a:solidFill>
                  <a:srgbClr val="142033"/>
                </a:solidFill>
                <a:latin typeface="Aptos"/>
              </a:rPr>
              <a:t>vizual</a:t>
            </a:r>
            <a:r>
              <a:rPr lang="ro-RO" sz="1600" dirty="0">
                <a:solidFill>
                  <a:srgbClr val="142033"/>
                </a:solidFill>
                <a:latin typeface="Aptos"/>
              </a:rPr>
              <a:t>ă a mediului</a:t>
            </a:r>
            <a:endParaRPr sz="1600" dirty="0">
              <a:solidFill>
                <a:srgbClr val="142033"/>
              </a:solidFill>
              <a:latin typeface="Aptos"/>
            </a:endParaRPr>
          </a:p>
        </p:txBody>
      </p:sp>
      <p:sp>
        <p:nvSpPr>
          <p:cNvPr id="163" name="Accent audio">
            <a:extLst>
              <a:ext uri="{FF2B5EF4-FFF2-40B4-BE49-F238E27FC236}">
                <a16:creationId xmlns:a16="http://schemas.microsoft.com/office/drawing/2014/main" id="{A691C33A-2425-46C0-9D21-633FE039E940}"/>
              </a:ext>
            </a:extLst>
          </p:cNvPr>
          <p:cNvSpPr>
            <a:spLocks noGrp="1"/>
          </p:cNvSpPr>
          <p:nvPr/>
        </p:nvSpPr>
        <p:spPr>
          <a:xfrm>
            <a:off x="6720000" y="4891782"/>
            <a:ext cx="115000" cy="115000"/>
          </a:xfrm>
          <a:prstGeom prst="rect">
            <a:avLst/>
          </a:prstGeom>
          <a:solidFill>
            <a:srgbClr val="1E6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4" name="Pixabay title">
            <a:extLst>
              <a:ext uri="{FF2B5EF4-FFF2-40B4-BE49-F238E27FC236}">
                <a16:creationId xmlns:a16="http://schemas.microsoft.com/office/drawing/2014/main" id="{89EE3A62-5A87-4EB6-AD74-54F7E4A856A5}"/>
              </a:ext>
            </a:extLst>
          </p:cNvPr>
          <p:cNvSpPr>
            <a:spLocks noGrp="1"/>
          </p:cNvSpPr>
          <p:nvPr/>
        </p:nvSpPr>
        <p:spPr>
          <a:xfrm>
            <a:off x="6950000" y="4791782"/>
            <a:ext cx="2550000" cy="33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sz="2000" b="1" dirty="0" err="1">
                <a:solidFill>
                  <a:srgbClr val="1E67B2"/>
                </a:solidFill>
                <a:latin typeface="Aptos"/>
              </a:rPr>
              <a:t>Pixabay</a:t>
            </a:r>
            <a:endParaRPr sz="2000" b="1" dirty="0">
              <a:solidFill>
                <a:srgbClr val="1E67B2"/>
              </a:solidFill>
              <a:latin typeface="Aptos"/>
            </a:endParaRPr>
          </a:p>
        </p:txBody>
      </p:sp>
      <p:sp>
        <p:nvSpPr>
          <p:cNvPr id="165" name="Pixabay desc">
            <a:extLst>
              <a:ext uri="{FF2B5EF4-FFF2-40B4-BE49-F238E27FC236}">
                <a16:creationId xmlns:a16="http://schemas.microsoft.com/office/drawing/2014/main" id="{BAFDBCF1-0DFF-42F6-A972-3914490DC93E}"/>
              </a:ext>
            </a:extLst>
          </p:cNvPr>
          <p:cNvSpPr>
            <a:spLocks noGrp="1"/>
          </p:cNvSpPr>
          <p:nvPr/>
        </p:nvSpPr>
        <p:spPr>
          <a:xfrm>
            <a:off x="6739525" y="5151309"/>
            <a:ext cx="2871930" cy="584775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>
            <a:spAutoFit/>
          </a:bodyPr>
          <a:lstStyle/>
          <a:p>
            <a:r>
              <a:rPr lang="en-AU" sz="1600" dirty="0" err="1">
                <a:solidFill>
                  <a:srgbClr val="142033"/>
                </a:solidFill>
                <a:latin typeface="Aptos"/>
              </a:rPr>
              <a:t>sursă</a:t>
            </a:r>
            <a:r>
              <a:rPr lang="en-AU" sz="1600" dirty="0">
                <a:solidFill>
                  <a:srgbClr val="142033"/>
                </a:solidFill>
                <a:latin typeface="Aptos"/>
              </a:rPr>
              <a:t> </a:t>
            </a:r>
            <a:r>
              <a:rPr lang="en-AU" sz="1600" dirty="0" err="1">
                <a:solidFill>
                  <a:srgbClr val="142033"/>
                </a:solidFill>
                <a:latin typeface="Aptos"/>
              </a:rPr>
              <a:t>pentru</a:t>
            </a:r>
            <a:r>
              <a:rPr lang="en-AU" sz="1600" dirty="0">
                <a:solidFill>
                  <a:srgbClr val="142033"/>
                </a:solidFill>
                <a:latin typeface="Aptos"/>
              </a:rPr>
              <a:t> </a:t>
            </a:r>
            <a:r>
              <a:rPr lang="en-AU" sz="1600" dirty="0" err="1">
                <a:solidFill>
                  <a:srgbClr val="142033"/>
                </a:solidFill>
                <a:latin typeface="Aptos"/>
              </a:rPr>
              <a:t>efecte</a:t>
            </a:r>
            <a:r>
              <a:rPr lang="en-AU" sz="1600" dirty="0">
                <a:solidFill>
                  <a:srgbClr val="142033"/>
                </a:solidFill>
                <a:latin typeface="Aptos"/>
              </a:rPr>
              <a:t> </a:t>
            </a:r>
            <a:r>
              <a:rPr lang="en-AU" sz="1600" dirty="0" err="1">
                <a:solidFill>
                  <a:srgbClr val="142033"/>
                </a:solidFill>
                <a:latin typeface="Aptos"/>
              </a:rPr>
              <a:t>sonore</a:t>
            </a:r>
            <a:r>
              <a:rPr lang="en-AU" sz="1600" dirty="0">
                <a:solidFill>
                  <a:srgbClr val="142033"/>
                </a:solidFill>
                <a:latin typeface="Aptos"/>
              </a:rPr>
              <a:t> – </a:t>
            </a:r>
            <a:r>
              <a:rPr lang="ro-RO" sz="1600" dirty="0">
                <a:solidFill>
                  <a:srgbClr val="142033"/>
                </a:solidFill>
                <a:latin typeface="Aptos"/>
              </a:rPr>
              <a:t>interacțiuni</a:t>
            </a:r>
            <a:r>
              <a:rPr lang="en-AU" sz="1600" dirty="0">
                <a:solidFill>
                  <a:srgbClr val="142033"/>
                </a:solidFill>
                <a:latin typeface="Aptos"/>
              </a:rPr>
              <a:t>, </a:t>
            </a:r>
            <a:r>
              <a:rPr lang="en-AU" sz="1600" dirty="0" err="1">
                <a:solidFill>
                  <a:srgbClr val="142033"/>
                </a:solidFill>
                <a:latin typeface="Aptos"/>
              </a:rPr>
              <a:t>erori</a:t>
            </a:r>
            <a:r>
              <a:rPr lang="ro-RO" sz="1600" dirty="0">
                <a:solidFill>
                  <a:srgbClr val="142033"/>
                </a:solidFill>
                <a:latin typeface="Aptos"/>
              </a:rPr>
              <a:t> și</a:t>
            </a:r>
            <a:r>
              <a:rPr lang="en-AU" sz="1600" dirty="0">
                <a:solidFill>
                  <a:srgbClr val="142033"/>
                </a:solidFill>
                <a:latin typeface="Aptos"/>
              </a:rPr>
              <a:t> </a:t>
            </a:r>
            <a:r>
              <a:rPr lang="en-AU" sz="1600" dirty="0" err="1">
                <a:solidFill>
                  <a:srgbClr val="142033"/>
                </a:solidFill>
                <a:latin typeface="Aptos"/>
              </a:rPr>
              <a:t>finalizare</a:t>
            </a:r>
            <a:endParaRPr sz="1600" dirty="0">
              <a:solidFill>
                <a:srgbClr val="142033"/>
              </a:solidFill>
              <a:latin typeface="Aptos"/>
            </a:endParaRPr>
          </a:p>
        </p:txBody>
      </p:sp>
      <p:sp>
        <p:nvSpPr>
          <p:cNvPr id="132" name="Tech desc">
            <a:extLst>
              <a:ext uri="{FF2B5EF4-FFF2-40B4-BE49-F238E27FC236}">
                <a16:creationId xmlns:a16="http://schemas.microsoft.com/office/drawing/2014/main" id="{D7FF8D93-7AFE-41D0-848D-F90969450E1E}"/>
              </a:ext>
            </a:extLst>
          </p:cNvPr>
          <p:cNvSpPr>
            <a:spLocks noGrp="1"/>
          </p:cNvSpPr>
          <p:nvPr/>
        </p:nvSpPr>
        <p:spPr>
          <a:xfrm>
            <a:off x="1075000" y="2866679"/>
            <a:ext cx="4300000" cy="338554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>
            <a:spAutoFit/>
          </a:bodyPr>
          <a:lstStyle/>
          <a:p>
            <a:r>
              <a:rPr sz="1600" dirty="0">
                <a:solidFill>
                  <a:srgbClr val="142033"/>
                </a:solidFill>
                <a:latin typeface="Aptos"/>
              </a:rPr>
              <a:t>motor 3D </a:t>
            </a:r>
            <a:r>
              <a:rPr lang="ro-RO" sz="1600" dirty="0">
                <a:solidFill>
                  <a:srgbClr val="142033"/>
                </a:solidFill>
                <a:latin typeface="Aptos"/>
              </a:rPr>
              <a:t>stabil cu suport pe termen lung</a:t>
            </a:r>
            <a:endParaRPr sz="1600" dirty="0">
              <a:solidFill>
                <a:srgbClr val="142033"/>
              </a:solidFill>
              <a:latin typeface="Aptos"/>
            </a:endParaRPr>
          </a:p>
        </p:txBody>
      </p:sp>
      <p:sp>
        <p:nvSpPr>
          <p:cNvPr id="14" name="orange bottom line">
            <a:extLst>
              <a:ext uri="{FF2B5EF4-FFF2-40B4-BE49-F238E27FC236}">
                <a16:creationId xmlns:a16="http://schemas.microsoft.com/office/drawing/2014/main" id="{029FF239-68A5-D0EC-ED4D-3DAF51E70B91}"/>
              </a:ext>
            </a:extLst>
          </p:cNvPr>
          <p:cNvSpPr/>
          <p:nvPr/>
        </p:nvSpPr>
        <p:spPr>
          <a:xfrm>
            <a:off x="9825037" y="5955583"/>
            <a:ext cx="2190750" cy="28575"/>
          </a:xfrm>
          <a:prstGeom prst="rect">
            <a:avLst/>
          </a:prstGeom>
          <a:solidFill>
            <a:srgbClr val="FFB1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D64A3E4-1864-082F-8B9D-292CE0CC2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744161" y="123372"/>
            <a:ext cx="2290523" cy="78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981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86C59E6-2B73-442B-98D8-861517EE6B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rPr lang="en-AU" dirty="0"/>
              <a:t>Fragment din </a:t>
            </a:r>
            <a:r>
              <a:rPr lang="en-AU" dirty="0" err="1"/>
              <a:t>LevelManager.SpawnRoom</a:t>
            </a:r>
            <a:r>
              <a:rPr lang="en-AU" dirty="0"/>
              <a:t>(): </a:t>
            </a:r>
            <a:r>
              <a:rPr lang="en-AU" dirty="0" err="1"/>
              <a:t>generarea</a:t>
            </a:r>
            <a:r>
              <a:rPr lang="en-AU" dirty="0"/>
              <a:t> </a:t>
            </a:r>
            <a:r>
              <a:rPr lang="en-AU" dirty="0" err="1"/>
              <a:t>camerei</a:t>
            </a:r>
            <a:r>
              <a:rPr lang="en-AU" dirty="0"/>
              <a:t> </a:t>
            </a:r>
            <a:r>
              <a:rPr lang="en-AU" dirty="0" err="1"/>
              <a:t>si</a:t>
            </a:r>
            <a:r>
              <a:rPr lang="en-AU" dirty="0"/>
              <a:t> </a:t>
            </a:r>
            <a:r>
              <a:rPr lang="en-AU" dirty="0" err="1"/>
              <a:t>incarcarea</a:t>
            </a:r>
            <a:r>
              <a:rPr lang="en-AU" dirty="0"/>
              <a:t> </a:t>
            </a:r>
            <a:r>
              <a:rPr lang="en-AU" dirty="0" err="1"/>
              <a:t>nivelului</a:t>
            </a:r>
            <a:r>
              <a:rPr lang="en-AU" dirty="0"/>
              <a:t> </a:t>
            </a:r>
            <a:r>
              <a:rPr lang="en-AU" dirty="0" err="1"/>
              <a:t>curent</a:t>
            </a:r>
            <a:r>
              <a:rPr lang="en-AU" dirty="0"/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49B933-2CB5-45DE-A83F-2A7138764C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23950"/>
          </a:xfrm>
          <a:prstGeom prst="rect">
            <a:avLst/>
          </a:prstGeom>
          <a:solidFill>
            <a:srgbClr val="123B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432233-C67F-4B18-8B0B-E3FF42AEB694}"/>
              </a:ext>
            </a:extLst>
          </p:cNvPr>
          <p:cNvSpPr>
            <a:spLocks noGrp="1"/>
          </p:cNvSpPr>
          <p:nvPr/>
        </p:nvSpPr>
        <p:spPr>
          <a:xfrm>
            <a:off x="0" y="1123950"/>
            <a:ext cx="12192000" cy="76200"/>
          </a:xfrm>
          <a:prstGeom prst="rect">
            <a:avLst/>
          </a:prstGeom>
          <a:solidFill>
            <a:srgbClr val="F28B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2B8BB2-60A8-4123-BC14-57F0908F208F}"/>
              </a:ext>
            </a:extLst>
          </p:cNvPr>
          <p:cNvSpPr>
            <a:spLocks noGrp="1"/>
          </p:cNvSpPr>
          <p:nvPr/>
        </p:nvSpPr>
        <p:spPr>
          <a:xfrm>
            <a:off x="11155927" y="0"/>
            <a:ext cx="1047750" cy="6858000"/>
          </a:xfrm>
          <a:prstGeom prst="rect">
            <a:avLst/>
          </a:prstGeom>
          <a:solidFill>
            <a:srgbClr val="EAF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F61997-EB20-4333-9546-8FAC1F6E6EDD}"/>
              </a:ext>
            </a:extLst>
          </p:cNvPr>
          <p:cNvSpPr>
            <a:spLocks noGrp="1"/>
          </p:cNvSpPr>
          <p:nvPr/>
        </p:nvSpPr>
        <p:spPr>
          <a:xfrm>
            <a:off x="11289277" y="0"/>
            <a:ext cx="47625" cy="6858000"/>
          </a:xfrm>
          <a:prstGeom prst="rect">
            <a:avLst/>
          </a:prstGeom>
          <a:solidFill>
            <a:srgbClr val="3EA7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46DB29-642D-4B74-8276-619E33BBFA36}"/>
              </a:ext>
            </a:extLst>
          </p:cNvPr>
          <p:cNvSpPr>
            <a:spLocks noGrp="1"/>
          </p:cNvSpPr>
          <p:nvPr/>
        </p:nvSpPr>
        <p:spPr>
          <a:xfrm>
            <a:off x="11575027" y="0"/>
            <a:ext cx="47625" cy="6858000"/>
          </a:xfrm>
          <a:prstGeom prst="rect">
            <a:avLst/>
          </a:prstGeom>
          <a:solidFill>
            <a:srgbClr val="FFB1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2C30DA-B642-4305-9936-F6D35DCBFEA4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B1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B15F"/>
                </a:solidFill>
                <a:latin typeface="Aptos"/>
                <a:ea typeface="Aptos"/>
                <a:cs typeface="Aptos"/>
              </a:rPr>
              <a:t>CODESCAPE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B7DBAE-47E8-4C46-A547-D13C4F50CF2A}"/>
              </a:ext>
            </a:extLst>
          </p:cNvPr>
          <p:cNvSpPr>
            <a:spLocks noGrp="1"/>
          </p:cNvSpPr>
          <p:nvPr/>
        </p:nvSpPr>
        <p:spPr>
          <a:xfrm>
            <a:off x="514350" y="523875"/>
            <a:ext cx="833437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75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Structura</a:t>
            </a:r>
            <a:r>
              <a:rPr sz="2475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2475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aplica</a:t>
            </a:r>
            <a:r>
              <a:rPr lang="ro-RO" sz="2475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ț</a:t>
            </a:r>
            <a:r>
              <a:rPr sz="2475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iei</a:t>
            </a:r>
            <a:endParaRPr sz="2475" b="1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F9CC69-F136-490E-BB20-D7951019B151}"/>
              </a:ext>
            </a:extLst>
          </p:cNvPr>
          <p:cNvSpPr>
            <a:spLocks noGrp="1"/>
          </p:cNvSpPr>
          <p:nvPr/>
        </p:nvSpPr>
        <p:spPr>
          <a:xfrm>
            <a:off x="10572750" y="6419850"/>
            <a:ext cx="819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41607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16071"/>
                </a:solidFill>
                <a:latin typeface="Aptos"/>
                <a:ea typeface="Aptos"/>
                <a:cs typeface="Aptos"/>
              </a:rPr>
              <a:t>7/12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CA8CAFC-034A-4CC5-9D6E-1C558EF6F8AA}"/>
              </a:ext>
            </a:extLst>
          </p:cNvPr>
          <p:cNvSpPr>
            <a:spLocks noGrp="1"/>
          </p:cNvSpPr>
          <p:nvPr/>
        </p:nvSpPr>
        <p:spPr>
          <a:xfrm>
            <a:off x="857558" y="1582994"/>
            <a:ext cx="1513860" cy="1428750"/>
          </a:xfrm>
          <a:prstGeom prst="roundRect">
            <a:avLst>
              <a:gd name="adj" fmla="val 5333"/>
            </a:avLst>
          </a:prstGeom>
          <a:solidFill>
            <a:srgbClr val="FFFFFF">
              <a:alpha val="90980"/>
            </a:srgbClr>
          </a:solidFill>
          <a:ln w="11430">
            <a:solidFill>
              <a:srgbClr val="9FD0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F37552-DC89-4B2D-8714-8F23A8719B49}"/>
              </a:ext>
            </a:extLst>
          </p:cNvPr>
          <p:cNvSpPr>
            <a:spLocks noGrp="1"/>
          </p:cNvSpPr>
          <p:nvPr/>
        </p:nvSpPr>
        <p:spPr>
          <a:xfrm>
            <a:off x="933142" y="1666875"/>
            <a:ext cx="1314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lang="ro-RO" sz="1600" b="1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Scenă inițială</a:t>
            </a:r>
            <a:endParaRPr sz="1600" b="1" dirty="0">
              <a:solidFill>
                <a:srgbClr val="14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480C4F-E40A-40CD-9204-63ACC51E6AE8}"/>
              </a:ext>
            </a:extLst>
          </p:cNvPr>
          <p:cNvSpPr>
            <a:spLocks noGrp="1"/>
          </p:cNvSpPr>
          <p:nvPr/>
        </p:nvSpPr>
        <p:spPr>
          <a:xfrm>
            <a:off x="933142" y="2420273"/>
            <a:ext cx="1314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lang="ro-RO" sz="1400" dirty="0">
                <a:solidFill>
                  <a:srgbClr val="425466"/>
                </a:solidFill>
                <a:latin typeface="Aptos"/>
                <a:ea typeface="Aptos"/>
                <a:cs typeface="Aptos"/>
              </a:rPr>
              <a:t>a</a:t>
            </a:r>
            <a:r>
              <a:rPr lang="ro-RO" sz="1400" b="0" dirty="0">
                <a:solidFill>
                  <a:srgbClr val="425466"/>
                </a:solidFill>
                <a:latin typeface="Aptos"/>
                <a:ea typeface="Aptos"/>
                <a:cs typeface="Aptos"/>
              </a:rPr>
              <a:t>cces la primul nivel</a:t>
            </a:r>
            <a:endParaRPr sz="1400" b="0" dirty="0">
              <a:solidFill>
                <a:srgbClr val="42546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BCF38C-496E-41B7-A456-6F086ED3D74F}"/>
              </a:ext>
            </a:extLst>
          </p:cNvPr>
          <p:cNvSpPr>
            <a:spLocks noGrp="1"/>
          </p:cNvSpPr>
          <p:nvPr/>
        </p:nvSpPr>
        <p:spPr>
          <a:xfrm>
            <a:off x="2373877" y="2287844"/>
            <a:ext cx="342900" cy="38100"/>
          </a:xfrm>
          <a:prstGeom prst="rect">
            <a:avLst/>
          </a:prstGeom>
          <a:solidFill>
            <a:srgbClr val="FFB1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3181FA1-3772-4484-A2DC-357335A63363}"/>
              </a:ext>
            </a:extLst>
          </p:cNvPr>
          <p:cNvSpPr>
            <a:spLocks noGrp="1"/>
          </p:cNvSpPr>
          <p:nvPr/>
        </p:nvSpPr>
        <p:spPr>
          <a:xfrm>
            <a:off x="2667308" y="1582994"/>
            <a:ext cx="1513860" cy="1428750"/>
          </a:xfrm>
          <a:prstGeom prst="roundRect">
            <a:avLst>
              <a:gd name="adj" fmla="val 5333"/>
            </a:avLst>
          </a:prstGeom>
          <a:solidFill>
            <a:srgbClr val="FFF6EA"/>
          </a:solidFill>
          <a:ln w="11430">
            <a:solidFill>
              <a:srgbClr val="9FD0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B12D1A1-75DA-455A-AFDD-AC0430D3D8DE}"/>
              </a:ext>
            </a:extLst>
          </p:cNvPr>
          <p:cNvSpPr>
            <a:spLocks noGrp="1"/>
          </p:cNvSpPr>
          <p:nvPr/>
        </p:nvSpPr>
        <p:spPr>
          <a:xfrm>
            <a:off x="2742892" y="1666875"/>
            <a:ext cx="1314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28B2E"/>
                </a:solidFill>
                <a:latin typeface="Aptos"/>
                <a:ea typeface="Aptos"/>
                <a:cs typeface="Aptos"/>
              </a:defRPr>
            </a:pPr>
            <a:r>
              <a:rPr sz="1600" b="1" dirty="0" err="1">
                <a:solidFill>
                  <a:srgbClr val="F28B2E"/>
                </a:solidFill>
                <a:latin typeface="Aptos"/>
                <a:ea typeface="Aptos"/>
                <a:cs typeface="Aptos"/>
              </a:rPr>
              <a:t>LevelManager</a:t>
            </a:r>
            <a:endParaRPr sz="1600" b="1" dirty="0">
              <a:solidFill>
                <a:srgbClr val="F28B2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B21BBB5-F781-420F-9218-0EEBBF3D1C55}"/>
              </a:ext>
            </a:extLst>
          </p:cNvPr>
          <p:cNvSpPr>
            <a:spLocks noGrp="1"/>
          </p:cNvSpPr>
          <p:nvPr/>
        </p:nvSpPr>
        <p:spPr>
          <a:xfrm>
            <a:off x="2792977" y="2392312"/>
            <a:ext cx="12001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/>
            <a:r>
              <a:rPr sz="1400" dirty="0" err="1">
                <a:solidFill>
                  <a:srgbClr val="425466"/>
                </a:solidFill>
                <a:latin typeface="Aptos"/>
              </a:rPr>
              <a:t>controleaz</a:t>
            </a:r>
            <a:r>
              <a:rPr lang="ro-RO" sz="1400" dirty="0">
                <a:solidFill>
                  <a:srgbClr val="425466"/>
                </a:solidFill>
                <a:latin typeface="Aptos"/>
              </a:rPr>
              <a:t>ă</a:t>
            </a:r>
            <a:r>
              <a:rPr sz="1400" dirty="0">
                <a:solidFill>
                  <a:srgbClr val="425466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425466"/>
                </a:solidFill>
                <a:latin typeface="Aptos"/>
              </a:rPr>
              <a:t>fluxul</a:t>
            </a:r>
            <a:r>
              <a:rPr sz="1400" dirty="0">
                <a:solidFill>
                  <a:srgbClr val="425466"/>
                </a:solidFill>
                <a:latin typeface="Aptos"/>
              </a:rPr>
              <a:t> general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796F10-ADE9-499F-A511-FBD8C7748EBF}"/>
              </a:ext>
            </a:extLst>
          </p:cNvPr>
          <p:cNvSpPr>
            <a:spLocks noGrp="1"/>
          </p:cNvSpPr>
          <p:nvPr/>
        </p:nvSpPr>
        <p:spPr>
          <a:xfrm>
            <a:off x="4183627" y="2287844"/>
            <a:ext cx="342900" cy="38100"/>
          </a:xfrm>
          <a:prstGeom prst="rect">
            <a:avLst/>
          </a:prstGeom>
          <a:solidFill>
            <a:srgbClr val="3EA7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A2D43DB-6BF9-4AF4-A79F-C0FFDCC9A506}"/>
              </a:ext>
            </a:extLst>
          </p:cNvPr>
          <p:cNvSpPr>
            <a:spLocks noGrp="1"/>
          </p:cNvSpPr>
          <p:nvPr/>
        </p:nvSpPr>
        <p:spPr>
          <a:xfrm>
            <a:off x="4477058" y="1582994"/>
            <a:ext cx="1513860" cy="1428750"/>
          </a:xfrm>
          <a:prstGeom prst="roundRect">
            <a:avLst>
              <a:gd name="adj" fmla="val 5333"/>
            </a:avLst>
          </a:prstGeom>
          <a:solidFill>
            <a:srgbClr val="FFFFFF">
              <a:alpha val="90980"/>
            </a:srgbClr>
          </a:solidFill>
          <a:ln w="11430">
            <a:solidFill>
              <a:srgbClr val="9FD0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E09751-C534-48D0-A66A-384C166F9339}"/>
              </a:ext>
            </a:extLst>
          </p:cNvPr>
          <p:cNvSpPr>
            <a:spLocks noGrp="1"/>
          </p:cNvSpPr>
          <p:nvPr/>
        </p:nvSpPr>
        <p:spPr>
          <a:xfrm>
            <a:off x="4552642" y="1666875"/>
            <a:ext cx="1314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Prefab nivel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413064-6733-4C32-B590-2FFF3C51854B}"/>
              </a:ext>
            </a:extLst>
          </p:cNvPr>
          <p:cNvSpPr>
            <a:spLocks noGrp="1"/>
          </p:cNvSpPr>
          <p:nvPr/>
        </p:nvSpPr>
        <p:spPr>
          <a:xfrm>
            <a:off x="4552642" y="2402452"/>
            <a:ext cx="1398639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/>
            <a:r>
              <a:rPr sz="1400" dirty="0">
                <a:solidFill>
                  <a:srgbClr val="425466"/>
                </a:solidFill>
                <a:latin typeface="Aptos"/>
              </a:rPr>
              <a:t>camera cu puzzle </a:t>
            </a:r>
            <a:r>
              <a:rPr lang="ro-RO" sz="1400" dirty="0">
                <a:solidFill>
                  <a:srgbClr val="425466"/>
                </a:solidFill>
                <a:latin typeface="Aptos"/>
              </a:rPr>
              <a:t>ș</a:t>
            </a:r>
            <a:r>
              <a:rPr sz="1400" dirty="0" err="1">
                <a:solidFill>
                  <a:srgbClr val="425466"/>
                </a:solidFill>
                <a:latin typeface="Aptos"/>
              </a:rPr>
              <a:t>i</a:t>
            </a:r>
            <a:r>
              <a:rPr sz="1400" dirty="0">
                <a:solidFill>
                  <a:srgbClr val="425466"/>
                </a:solidFill>
                <a:latin typeface="Aptos"/>
              </a:rPr>
              <a:t> terminal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D45BF44-A9D7-4B85-AFA2-AFA81AF14A1B}"/>
              </a:ext>
            </a:extLst>
          </p:cNvPr>
          <p:cNvSpPr>
            <a:spLocks noGrp="1"/>
          </p:cNvSpPr>
          <p:nvPr/>
        </p:nvSpPr>
        <p:spPr>
          <a:xfrm>
            <a:off x="5993377" y="2287844"/>
            <a:ext cx="342900" cy="38100"/>
          </a:xfrm>
          <a:prstGeom prst="rect">
            <a:avLst/>
          </a:prstGeom>
          <a:solidFill>
            <a:srgbClr val="FFB1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21CEFB8-2EBD-4C3C-8474-C3898FC8F436}"/>
              </a:ext>
            </a:extLst>
          </p:cNvPr>
          <p:cNvSpPr>
            <a:spLocks noGrp="1"/>
          </p:cNvSpPr>
          <p:nvPr/>
        </p:nvSpPr>
        <p:spPr>
          <a:xfrm>
            <a:off x="6286808" y="1582994"/>
            <a:ext cx="1513860" cy="1428750"/>
          </a:xfrm>
          <a:prstGeom prst="roundRect">
            <a:avLst>
              <a:gd name="adj" fmla="val 5333"/>
            </a:avLst>
          </a:prstGeom>
          <a:solidFill>
            <a:srgbClr val="FFFFFF">
              <a:alpha val="90980"/>
            </a:srgbClr>
          </a:solidFill>
          <a:ln w="11430">
            <a:solidFill>
              <a:srgbClr val="9FD0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81E5FD2-B1A8-4DC4-88B1-E3A0EAED7CB5}"/>
              </a:ext>
            </a:extLst>
          </p:cNvPr>
          <p:cNvSpPr>
            <a:spLocks noGrp="1"/>
          </p:cNvSpPr>
          <p:nvPr/>
        </p:nvSpPr>
        <p:spPr>
          <a:xfrm>
            <a:off x="6362392" y="1666875"/>
            <a:ext cx="1314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Manager nivel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0A00BDE-5552-43E0-9666-F2420B8BCFC0}"/>
              </a:ext>
            </a:extLst>
          </p:cNvPr>
          <p:cNvSpPr>
            <a:spLocks noGrp="1"/>
          </p:cNvSpPr>
          <p:nvPr/>
        </p:nvSpPr>
        <p:spPr>
          <a:xfrm>
            <a:off x="6341080" y="2420273"/>
            <a:ext cx="1426723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/>
            <a:r>
              <a:rPr sz="1400" dirty="0" err="1">
                <a:solidFill>
                  <a:srgbClr val="425466"/>
                </a:solidFill>
                <a:latin typeface="Aptos"/>
              </a:rPr>
              <a:t>logica</a:t>
            </a:r>
            <a:r>
              <a:rPr sz="1400" dirty="0">
                <a:solidFill>
                  <a:srgbClr val="425466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425466"/>
                </a:solidFill>
                <a:latin typeface="Aptos"/>
              </a:rPr>
              <a:t>si</a:t>
            </a:r>
            <a:r>
              <a:rPr sz="1400" dirty="0">
                <a:solidFill>
                  <a:srgbClr val="425466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425466"/>
                </a:solidFill>
                <a:latin typeface="Aptos"/>
              </a:rPr>
              <a:t>validarea</a:t>
            </a:r>
            <a:r>
              <a:rPr sz="1400" dirty="0">
                <a:solidFill>
                  <a:srgbClr val="425466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425466"/>
                </a:solidFill>
                <a:latin typeface="Aptos"/>
              </a:rPr>
              <a:t>nivelului</a:t>
            </a:r>
            <a:endParaRPr sz="1400" dirty="0">
              <a:solidFill>
                <a:srgbClr val="425466"/>
              </a:solidFill>
              <a:latin typeface="Apto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B5C2526-C007-42F0-9EB6-7E3B646ED04C}"/>
              </a:ext>
            </a:extLst>
          </p:cNvPr>
          <p:cNvSpPr>
            <a:spLocks noGrp="1"/>
          </p:cNvSpPr>
          <p:nvPr/>
        </p:nvSpPr>
        <p:spPr>
          <a:xfrm>
            <a:off x="7803127" y="2287844"/>
            <a:ext cx="342900" cy="38100"/>
          </a:xfrm>
          <a:prstGeom prst="rect">
            <a:avLst/>
          </a:prstGeom>
          <a:solidFill>
            <a:srgbClr val="3EA7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CDF43A8-E0D4-4220-B4C8-73657D44A27C}"/>
              </a:ext>
            </a:extLst>
          </p:cNvPr>
          <p:cNvSpPr>
            <a:spLocks noGrp="1"/>
          </p:cNvSpPr>
          <p:nvPr/>
        </p:nvSpPr>
        <p:spPr>
          <a:xfrm>
            <a:off x="8096558" y="1582994"/>
            <a:ext cx="1513860" cy="1428750"/>
          </a:xfrm>
          <a:prstGeom prst="roundRect">
            <a:avLst>
              <a:gd name="adj" fmla="val 5333"/>
            </a:avLst>
          </a:prstGeom>
          <a:solidFill>
            <a:srgbClr val="FFFFFF">
              <a:alpha val="90980"/>
            </a:srgbClr>
          </a:solidFill>
          <a:ln w="11430">
            <a:solidFill>
              <a:srgbClr val="9FD0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AF53195-9274-4A6A-A283-10B6B84ED9A4}"/>
              </a:ext>
            </a:extLst>
          </p:cNvPr>
          <p:cNvSpPr>
            <a:spLocks noGrp="1"/>
          </p:cNvSpPr>
          <p:nvPr/>
        </p:nvSpPr>
        <p:spPr>
          <a:xfrm>
            <a:off x="8172142" y="1666875"/>
            <a:ext cx="1314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Buton progres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A090147-A6A2-40A8-A983-74ECA3C9D8AF}"/>
              </a:ext>
            </a:extLst>
          </p:cNvPr>
          <p:cNvSpPr>
            <a:spLocks noGrp="1"/>
          </p:cNvSpPr>
          <p:nvPr/>
        </p:nvSpPr>
        <p:spPr>
          <a:xfrm>
            <a:off x="8222227" y="2402144"/>
            <a:ext cx="12001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/>
            <a:r>
              <a:rPr sz="1400" dirty="0" err="1">
                <a:solidFill>
                  <a:srgbClr val="425466"/>
                </a:solidFill>
                <a:latin typeface="Aptos"/>
              </a:rPr>
              <a:t>trecere</a:t>
            </a:r>
            <a:r>
              <a:rPr sz="1400" dirty="0">
                <a:solidFill>
                  <a:srgbClr val="425466"/>
                </a:solidFill>
                <a:latin typeface="Aptos"/>
              </a:rPr>
              <a:t> la </a:t>
            </a:r>
            <a:r>
              <a:rPr sz="1400" dirty="0" err="1">
                <a:solidFill>
                  <a:srgbClr val="425466"/>
                </a:solidFill>
                <a:latin typeface="Aptos"/>
              </a:rPr>
              <a:t>nivelul</a:t>
            </a:r>
            <a:r>
              <a:rPr sz="1400" dirty="0">
                <a:solidFill>
                  <a:srgbClr val="425466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425466"/>
                </a:solidFill>
                <a:latin typeface="Aptos"/>
              </a:rPr>
              <a:t>urm</a:t>
            </a:r>
            <a:r>
              <a:rPr lang="ro-RO" sz="1400" dirty="0">
                <a:solidFill>
                  <a:srgbClr val="425466"/>
                </a:solidFill>
                <a:latin typeface="Aptos"/>
              </a:rPr>
              <a:t>ă</a:t>
            </a:r>
            <a:r>
              <a:rPr sz="1400" dirty="0">
                <a:solidFill>
                  <a:srgbClr val="425466"/>
                </a:solidFill>
                <a:latin typeface="Aptos"/>
              </a:rPr>
              <a:t>tor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D9E84E4-0318-42C9-9601-8C57DA2F198F}"/>
              </a:ext>
            </a:extLst>
          </p:cNvPr>
          <p:cNvSpPr>
            <a:spLocks noGrp="1"/>
          </p:cNvSpPr>
          <p:nvPr/>
        </p:nvSpPr>
        <p:spPr>
          <a:xfrm>
            <a:off x="602713" y="3442212"/>
            <a:ext cx="4942769" cy="657226"/>
          </a:xfrm>
          <a:prstGeom prst="roundRect">
            <a:avLst>
              <a:gd name="adj" fmla="val 9302"/>
            </a:avLst>
          </a:prstGeom>
          <a:solidFill>
            <a:srgbClr val="FFF8F0"/>
          </a:solidFill>
          <a:ln w="11430">
            <a:solidFill>
              <a:srgbClr val="F5C28A"/>
            </a:solidFill>
            <a:prstDash val="solid"/>
          </a:ln>
        </p:spPr>
        <p:txBody>
          <a:bodyPr/>
          <a:lstStyle/>
          <a:p>
            <a:endParaRPr lang="en-AU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CD6EE9F-67A2-405C-9CE9-B9DC1EAEF1B2}"/>
              </a:ext>
            </a:extLst>
          </p:cNvPr>
          <p:cNvSpPr>
            <a:spLocks noGrp="1"/>
          </p:cNvSpPr>
          <p:nvPr/>
        </p:nvSpPr>
        <p:spPr>
          <a:xfrm>
            <a:off x="688539" y="3514145"/>
            <a:ext cx="4732605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650" b="1" dirty="0" err="1">
                <a:solidFill>
                  <a:srgbClr val="142033"/>
                </a:solidFill>
                <a:latin typeface="Aptos"/>
                <a:ea typeface="Aptos"/>
                <a:cs typeface="Aptos"/>
              </a:rPr>
              <a:t>LevelManager</a:t>
            </a:r>
            <a:r>
              <a:rPr sz="1650" b="1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1" dirty="0" err="1">
                <a:solidFill>
                  <a:srgbClr val="142033"/>
                </a:solidFill>
                <a:latin typeface="Aptos"/>
                <a:ea typeface="Aptos"/>
                <a:cs typeface="Aptos"/>
              </a:rPr>
              <a:t>controleaz</a:t>
            </a:r>
            <a:r>
              <a:rPr lang="ro-RO" sz="1650" b="1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ă</a:t>
            </a:r>
            <a:r>
              <a:rPr sz="1650" b="1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1" dirty="0" err="1">
                <a:solidFill>
                  <a:srgbClr val="142033"/>
                </a:solidFill>
                <a:latin typeface="Aptos"/>
                <a:ea typeface="Aptos"/>
                <a:cs typeface="Aptos"/>
              </a:rPr>
              <a:t>trecerea</a:t>
            </a:r>
            <a:r>
              <a:rPr sz="1650" b="1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 </a:t>
            </a:r>
            <a:r>
              <a:rPr lang="ro-RO" sz="1650" b="1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î</a:t>
            </a:r>
            <a:r>
              <a:rPr sz="1650" b="1" dirty="0" err="1">
                <a:solidFill>
                  <a:srgbClr val="142033"/>
                </a:solidFill>
                <a:latin typeface="Aptos"/>
                <a:ea typeface="Aptos"/>
                <a:cs typeface="Aptos"/>
              </a:rPr>
              <a:t>ntre</a:t>
            </a:r>
            <a:r>
              <a:rPr sz="1650" b="1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1" dirty="0" err="1">
                <a:solidFill>
                  <a:srgbClr val="142033"/>
                </a:solidFill>
                <a:latin typeface="Aptos"/>
                <a:ea typeface="Aptos"/>
                <a:cs typeface="Aptos"/>
              </a:rPr>
              <a:t>niveluri</a:t>
            </a:r>
            <a:r>
              <a:rPr sz="1650" b="1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, </a:t>
            </a:r>
            <a:r>
              <a:rPr sz="1650" b="1" dirty="0" err="1">
                <a:solidFill>
                  <a:srgbClr val="142033"/>
                </a:solidFill>
                <a:latin typeface="Aptos"/>
                <a:ea typeface="Aptos"/>
                <a:cs typeface="Aptos"/>
              </a:rPr>
              <a:t>iar</a:t>
            </a:r>
            <a:r>
              <a:rPr sz="1650" b="1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1" dirty="0" err="1">
                <a:solidFill>
                  <a:srgbClr val="142033"/>
                </a:solidFill>
                <a:latin typeface="Aptos"/>
                <a:ea typeface="Aptos"/>
                <a:cs typeface="Aptos"/>
              </a:rPr>
              <a:t>fiecare</a:t>
            </a:r>
            <a:r>
              <a:rPr sz="1650" b="1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1" dirty="0" err="1">
                <a:solidFill>
                  <a:srgbClr val="142033"/>
                </a:solidFill>
                <a:latin typeface="Aptos"/>
                <a:ea typeface="Aptos"/>
                <a:cs typeface="Aptos"/>
              </a:rPr>
              <a:t>nivel</a:t>
            </a:r>
            <a:r>
              <a:rPr sz="1650" b="1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 are propria logic</a:t>
            </a:r>
            <a:r>
              <a:rPr lang="ro-RO" sz="1650" b="1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ă</a:t>
            </a:r>
            <a:r>
              <a:rPr sz="1650" b="1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 de </a:t>
            </a:r>
            <a:r>
              <a:rPr sz="1650" b="1" dirty="0" err="1">
                <a:solidFill>
                  <a:srgbClr val="142033"/>
                </a:solidFill>
                <a:latin typeface="Aptos"/>
                <a:ea typeface="Aptos"/>
                <a:cs typeface="Aptos"/>
              </a:rPr>
              <a:t>joc</a:t>
            </a:r>
            <a:r>
              <a:rPr sz="1650" b="1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AC3D49C-AE9B-D852-2640-C89B52609924}"/>
              </a:ext>
            </a:extLst>
          </p:cNvPr>
          <p:cNvSpPr>
            <a:spLocks noGrp="1"/>
          </p:cNvSpPr>
          <p:nvPr/>
        </p:nvSpPr>
        <p:spPr>
          <a:xfrm>
            <a:off x="5990492" y="3291349"/>
            <a:ext cx="4926607" cy="2846440"/>
          </a:xfrm>
          <a:prstGeom prst="roundRect">
            <a:avLst>
              <a:gd name="adj" fmla="val 3376"/>
            </a:avLst>
          </a:prstGeom>
          <a:solidFill>
            <a:srgbClr val="FFFFFF"/>
          </a:solidFill>
          <a:ln w="11430">
            <a:solidFill>
              <a:srgbClr val="7EBDE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4F8516F-7FD4-9196-7371-AE412D5F92DD}"/>
              </a:ext>
            </a:extLst>
          </p:cNvPr>
          <p:cNvSpPr txBox="1"/>
          <p:nvPr/>
        </p:nvSpPr>
        <p:spPr>
          <a:xfrm>
            <a:off x="5545482" y="6139696"/>
            <a:ext cx="61009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o-RO" sz="1200" dirty="0">
                <a:solidFill>
                  <a:srgbClr val="123B68"/>
                </a:solidFill>
                <a:latin typeface="Aptos"/>
              </a:rPr>
              <a:t>Nivel 1 – </a:t>
            </a:r>
            <a:r>
              <a:rPr lang="en-AU" sz="1200" dirty="0">
                <a:solidFill>
                  <a:srgbClr val="123B68"/>
                </a:solidFill>
                <a:latin typeface="Aptos"/>
              </a:rPr>
              <a:t>Feedback </a:t>
            </a:r>
            <a:r>
              <a:rPr lang="en-AU" sz="1200" dirty="0" err="1">
                <a:solidFill>
                  <a:srgbClr val="123B68"/>
                </a:solidFill>
                <a:latin typeface="Aptos"/>
              </a:rPr>
              <a:t>după</a:t>
            </a:r>
            <a:r>
              <a:rPr lang="en-AU" sz="1200" dirty="0">
                <a:solidFill>
                  <a:srgbClr val="123B68"/>
                </a:solidFill>
                <a:latin typeface="Aptos"/>
              </a:rPr>
              <a:t> </a:t>
            </a:r>
            <a:r>
              <a:rPr lang="en-AU" sz="1200" dirty="0" err="1">
                <a:solidFill>
                  <a:srgbClr val="123B68"/>
                </a:solidFill>
                <a:latin typeface="Aptos"/>
              </a:rPr>
              <a:t>finalizarea</a:t>
            </a:r>
            <a:r>
              <a:rPr lang="en-AU" sz="1200" dirty="0">
                <a:solidFill>
                  <a:srgbClr val="123B68"/>
                </a:solidFill>
                <a:latin typeface="Aptos"/>
              </a:rPr>
              <a:t> </a:t>
            </a:r>
            <a:r>
              <a:rPr lang="en-AU" sz="1200" dirty="0" err="1">
                <a:solidFill>
                  <a:srgbClr val="123B68"/>
                </a:solidFill>
                <a:latin typeface="Aptos"/>
              </a:rPr>
              <a:t>nivelului</a:t>
            </a:r>
            <a:endParaRPr lang="en-US" sz="1200" dirty="0">
              <a:solidFill>
                <a:srgbClr val="123B68"/>
              </a:solidFill>
              <a:latin typeface="Aptos"/>
            </a:endParaRPr>
          </a:p>
        </p:txBody>
      </p:sp>
      <p:sp>
        <p:nvSpPr>
          <p:cNvPr id="39" name="orange bottom line">
            <a:extLst>
              <a:ext uri="{FF2B5EF4-FFF2-40B4-BE49-F238E27FC236}">
                <a16:creationId xmlns:a16="http://schemas.microsoft.com/office/drawing/2014/main" id="{3440716F-3D11-BB29-7794-366D5591B21F}"/>
              </a:ext>
            </a:extLst>
          </p:cNvPr>
          <p:cNvSpPr/>
          <p:nvPr/>
        </p:nvSpPr>
        <p:spPr>
          <a:xfrm>
            <a:off x="10362002" y="5940220"/>
            <a:ext cx="2190750" cy="28575"/>
          </a:xfrm>
          <a:prstGeom prst="rect">
            <a:avLst/>
          </a:prstGeom>
          <a:solidFill>
            <a:srgbClr val="FFB1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8414DB6-4288-AA07-7CF4-14191D93C9AC}"/>
              </a:ext>
            </a:extLst>
          </p:cNvPr>
          <p:cNvSpPr>
            <a:spLocks noGrp="1"/>
          </p:cNvSpPr>
          <p:nvPr/>
        </p:nvSpPr>
        <p:spPr>
          <a:xfrm>
            <a:off x="808365" y="4575034"/>
            <a:ext cx="4612779" cy="940664"/>
          </a:xfrm>
          <a:prstGeom prst="roundRect">
            <a:avLst>
              <a:gd name="adj" fmla="val 9302"/>
            </a:avLst>
          </a:prstGeom>
          <a:solidFill>
            <a:schemeClr val="tx2">
              <a:lumMod val="10000"/>
              <a:lumOff val="90000"/>
            </a:schemeClr>
          </a:solidFill>
          <a:ln w="11430">
            <a:solidFill>
              <a:schemeClr val="tx2">
                <a:lumMod val="50000"/>
                <a:lumOff val="50000"/>
              </a:schemeClr>
            </a:solidFill>
            <a:prstDash val="solid"/>
          </a:ln>
        </p:spPr>
        <p:txBody>
          <a:bodyPr/>
          <a:lstStyle/>
          <a:p>
            <a:r>
              <a:rPr lang="en-AU" sz="1300" dirty="0" err="1">
                <a:latin typeface="Consolas" panose="020B0609020204030204" pitchFamily="49" charset="0"/>
              </a:rPr>
              <a:t>GameObject</a:t>
            </a:r>
            <a:r>
              <a:rPr lang="en-AU" sz="1300" dirty="0">
                <a:latin typeface="Consolas" panose="020B0609020204030204" pitchFamily="49" charset="0"/>
              </a:rPr>
              <a:t> </a:t>
            </a:r>
            <a:r>
              <a:rPr lang="en-AU" sz="1300" dirty="0" err="1">
                <a:latin typeface="Consolas" panose="020B0609020204030204" pitchFamily="49" charset="0"/>
              </a:rPr>
              <a:t>roomCurenta</a:t>
            </a:r>
            <a:r>
              <a:rPr lang="en-AU" sz="1300" dirty="0">
                <a:latin typeface="Consolas" panose="020B0609020204030204" pitchFamily="49" charset="0"/>
              </a:rPr>
              <a:t> = Instantiate(</a:t>
            </a:r>
            <a:r>
              <a:rPr lang="en-AU" sz="1300" dirty="0" err="1">
                <a:latin typeface="Consolas" panose="020B0609020204030204" pitchFamily="49" charset="0"/>
              </a:rPr>
              <a:t>roomPrefab</a:t>
            </a:r>
            <a:r>
              <a:rPr lang="en-AU" sz="1300" dirty="0">
                <a:latin typeface="Consolas" panose="020B0609020204030204" pitchFamily="49" charset="0"/>
              </a:rPr>
              <a:t>, </a:t>
            </a:r>
            <a:r>
              <a:rPr lang="en-AU" sz="1300" dirty="0" err="1">
                <a:latin typeface="Consolas" panose="020B0609020204030204" pitchFamily="49" charset="0"/>
              </a:rPr>
              <a:t>spawnPoint.position</a:t>
            </a:r>
            <a:r>
              <a:rPr lang="en-AU" sz="1300" dirty="0">
                <a:latin typeface="Consolas" panose="020B0609020204030204" pitchFamily="49" charset="0"/>
              </a:rPr>
              <a:t>, </a:t>
            </a:r>
            <a:r>
              <a:rPr lang="en-AU" sz="1300" dirty="0" err="1">
                <a:latin typeface="Consolas" panose="020B0609020204030204" pitchFamily="49" charset="0"/>
              </a:rPr>
              <a:t>spawnPoint.rotation</a:t>
            </a:r>
            <a:r>
              <a:rPr lang="en-AU" sz="1300" dirty="0">
                <a:latin typeface="Consolas" panose="020B0609020204030204" pitchFamily="49" charset="0"/>
              </a:rPr>
              <a:t>);</a:t>
            </a:r>
          </a:p>
          <a:p>
            <a:r>
              <a:rPr lang="en-AU" sz="1300" dirty="0" err="1">
                <a:latin typeface="Consolas" panose="020B0609020204030204" pitchFamily="49" charset="0"/>
              </a:rPr>
              <a:t>SpawnLevelObjects</a:t>
            </a:r>
            <a:r>
              <a:rPr lang="en-AU" sz="1300" dirty="0">
                <a:latin typeface="Consolas" panose="020B0609020204030204" pitchFamily="49" charset="0"/>
              </a:rPr>
              <a:t>(</a:t>
            </a:r>
            <a:r>
              <a:rPr lang="en-AU" sz="1300" dirty="0" err="1">
                <a:latin typeface="Consolas" panose="020B0609020204030204" pitchFamily="49" charset="0"/>
              </a:rPr>
              <a:t>roomCurenta</a:t>
            </a:r>
            <a:r>
              <a:rPr lang="en-AU" sz="1300" dirty="0">
                <a:latin typeface="Consolas" panose="020B0609020204030204" pitchFamily="49" charset="0"/>
              </a:rPr>
              <a:t>, </a:t>
            </a:r>
            <a:r>
              <a:rPr lang="en-AU" sz="1300" dirty="0" err="1">
                <a:latin typeface="Consolas" panose="020B0609020204030204" pitchFamily="49" charset="0"/>
              </a:rPr>
              <a:t>levelButton</a:t>
            </a:r>
            <a:r>
              <a:rPr lang="en-AU" sz="1300" dirty="0">
                <a:latin typeface="Consolas" panose="020B0609020204030204" pitchFamily="49" charset="0"/>
              </a:rPr>
              <a:t>);</a:t>
            </a:r>
          </a:p>
          <a:p>
            <a:r>
              <a:rPr lang="en-AU" sz="1300" dirty="0" err="1">
                <a:latin typeface="Consolas" panose="020B0609020204030204" pitchFamily="49" charset="0"/>
              </a:rPr>
              <a:t>nivelCurent</a:t>
            </a:r>
            <a:r>
              <a:rPr lang="en-AU" sz="1300" dirty="0">
                <a:latin typeface="Consolas" panose="020B0609020204030204" pitchFamily="49" charset="0"/>
              </a:rPr>
              <a:t>++;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A6863C-D9DD-4115-824C-BA5094663685}"/>
              </a:ext>
            </a:extLst>
          </p:cNvPr>
          <p:cNvSpPr>
            <a:spLocks noGrp="1"/>
          </p:cNvSpPr>
          <p:nvPr/>
        </p:nvSpPr>
        <p:spPr>
          <a:xfrm>
            <a:off x="10584119" y="6162675"/>
            <a:ext cx="1847850" cy="28575"/>
          </a:xfrm>
          <a:prstGeom prst="rect">
            <a:avLst/>
          </a:prstGeom>
          <a:solidFill>
            <a:srgbClr val="3EA7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AD9C2A5-D4C1-E4AE-C671-B52B55DD436C}"/>
              </a:ext>
            </a:extLst>
          </p:cNvPr>
          <p:cNvSpPr txBox="1"/>
          <p:nvPr/>
        </p:nvSpPr>
        <p:spPr>
          <a:xfrm>
            <a:off x="569348" y="5715722"/>
            <a:ext cx="47902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1200" dirty="0" err="1">
                <a:solidFill>
                  <a:srgbClr val="123B68"/>
                </a:solidFill>
                <a:latin typeface="Aptos"/>
              </a:rPr>
              <a:t>Generarea</a:t>
            </a:r>
            <a:r>
              <a:rPr lang="en-AU" sz="1200" dirty="0">
                <a:solidFill>
                  <a:srgbClr val="123B68"/>
                </a:solidFill>
                <a:latin typeface="Aptos"/>
              </a:rPr>
              <a:t> </a:t>
            </a:r>
            <a:r>
              <a:rPr lang="en-AU" sz="1200" dirty="0" err="1">
                <a:solidFill>
                  <a:srgbClr val="123B68"/>
                </a:solidFill>
                <a:latin typeface="Aptos"/>
              </a:rPr>
              <a:t>camerei</a:t>
            </a:r>
            <a:r>
              <a:rPr lang="en-AU" sz="1200" dirty="0">
                <a:solidFill>
                  <a:srgbClr val="123B68"/>
                </a:solidFill>
                <a:latin typeface="Aptos"/>
              </a:rPr>
              <a:t> </a:t>
            </a:r>
            <a:r>
              <a:rPr lang="en-AU" sz="1200" dirty="0" err="1">
                <a:solidFill>
                  <a:srgbClr val="123B68"/>
                </a:solidFill>
                <a:latin typeface="Aptos"/>
              </a:rPr>
              <a:t>si</a:t>
            </a:r>
            <a:r>
              <a:rPr lang="en-AU" sz="1200" dirty="0">
                <a:solidFill>
                  <a:srgbClr val="123B68"/>
                </a:solidFill>
                <a:latin typeface="Aptos"/>
              </a:rPr>
              <a:t> </a:t>
            </a:r>
            <a:r>
              <a:rPr lang="ro-RO" sz="1200" dirty="0">
                <a:solidFill>
                  <a:srgbClr val="123B68"/>
                </a:solidFill>
                <a:latin typeface="Aptos"/>
              </a:rPr>
              <a:t>în</a:t>
            </a:r>
            <a:r>
              <a:rPr lang="en-AU" sz="1200" dirty="0">
                <a:solidFill>
                  <a:srgbClr val="123B68"/>
                </a:solidFill>
                <a:latin typeface="Aptos"/>
              </a:rPr>
              <a:t>c</a:t>
            </a:r>
            <a:r>
              <a:rPr lang="ro-RO" sz="1200" dirty="0">
                <a:solidFill>
                  <a:srgbClr val="123B68"/>
                </a:solidFill>
                <a:latin typeface="Aptos"/>
              </a:rPr>
              <a:t>ă</a:t>
            </a:r>
            <a:r>
              <a:rPr lang="en-AU" sz="1200" dirty="0" err="1">
                <a:solidFill>
                  <a:srgbClr val="123B68"/>
                </a:solidFill>
                <a:latin typeface="Aptos"/>
              </a:rPr>
              <a:t>rcarea</a:t>
            </a:r>
            <a:r>
              <a:rPr lang="en-AU" sz="1200" dirty="0">
                <a:solidFill>
                  <a:srgbClr val="123B68"/>
                </a:solidFill>
                <a:latin typeface="Aptos"/>
              </a:rPr>
              <a:t> </a:t>
            </a:r>
            <a:r>
              <a:rPr lang="en-AU" sz="1200" dirty="0" err="1">
                <a:solidFill>
                  <a:srgbClr val="123B68"/>
                </a:solidFill>
                <a:latin typeface="Aptos"/>
              </a:rPr>
              <a:t>nivelului</a:t>
            </a:r>
            <a:r>
              <a:rPr lang="en-AU" sz="1200" dirty="0">
                <a:solidFill>
                  <a:srgbClr val="123B68"/>
                </a:solidFill>
                <a:latin typeface="Aptos"/>
              </a:rPr>
              <a:t> </a:t>
            </a:r>
            <a:r>
              <a:rPr lang="en-AU" sz="1200" dirty="0" err="1">
                <a:solidFill>
                  <a:srgbClr val="123B68"/>
                </a:solidFill>
                <a:latin typeface="Aptos"/>
              </a:rPr>
              <a:t>curent</a:t>
            </a:r>
            <a:r>
              <a:rPr lang="en-AU" sz="1200" dirty="0">
                <a:solidFill>
                  <a:srgbClr val="123B68"/>
                </a:solidFill>
                <a:latin typeface="Aptos"/>
              </a:rPr>
              <a:t>.</a:t>
            </a:r>
            <a:endParaRPr lang="en-US" sz="1200" dirty="0">
              <a:solidFill>
                <a:srgbClr val="123B68"/>
              </a:solidFill>
              <a:latin typeface="Aptos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1CA11B85-A072-A462-6681-8AAB1FB42F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" b="85"/>
          <a:stretch/>
        </p:blipFill>
        <p:spPr>
          <a:xfrm>
            <a:off x="6104669" y="3401837"/>
            <a:ext cx="4698251" cy="2638248"/>
          </a:xfrm>
          <a:prstGeom prst="roundRect">
            <a:avLst>
              <a:gd name="adj" fmla="val 2740"/>
            </a:avLst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E7C0C67D-CA6E-5359-2662-A224FB3401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744161" y="123372"/>
            <a:ext cx="2290523" cy="78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762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EB6B3F82-B02F-4A5C-BC2F-4B2A82FD0AD5}"/>
              </a:ext>
            </a:extLst>
          </p:cNvPr>
          <p:cNvSpPr>
            <a:spLocks noGrp="1"/>
          </p:cNvSpPr>
          <p:nvPr/>
        </p:nvSpPr>
        <p:spPr>
          <a:xfrm>
            <a:off x="0" y="21201"/>
            <a:ext cx="12192000" cy="6858000"/>
          </a:xfrm>
          <a:prstGeom prst="rect">
            <a:avLst/>
          </a:prstGeom>
          <a:solidFill>
            <a:srgbClr val="F6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10FEA5-D3CE-4736-9EAC-D1903C8F55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23950"/>
          </a:xfrm>
          <a:prstGeom prst="rect">
            <a:avLst/>
          </a:prstGeom>
          <a:solidFill>
            <a:srgbClr val="123B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E7744F-E310-42BA-AD16-483C50A533B0}"/>
              </a:ext>
            </a:extLst>
          </p:cNvPr>
          <p:cNvSpPr>
            <a:spLocks noGrp="1"/>
          </p:cNvSpPr>
          <p:nvPr/>
        </p:nvSpPr>
        <p:spPr>
          <a:xfrm>
            <a:off x="0" y="1123950"/>
            <a:ext cx="12192000" cy="76200"/>
          </a:xfrm>
          <a:prstGeom prst="rect">
            <a:avLst/>
          </a:prstGeom>
          <a:solidFill>
            <a:srgbClr val="F28B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88F30C-B2AD-4EFF-9C96-BED52D3803C8}"/>
              </a:ext>
            </a:extLst>
          </p:cNvPr>
          <p:cNvSpPr>
            <a:spLocks noGrp="1"/>
          </p:cNvSpPr>
          <p:nvPr/>
        </p:nvSpPr>
        <p:spPr>
          <a:xfrm>
            <a:off x="11150227" y="-68826"/>
            <a:ext cx="1047750" cy="6941419"/>
          </a:xfrm>
          <a:prstGeom prst="rect">
            <a:avLst/>
          </a:prstGeom>
          <a:solidFill>
            <a:srgbClr val="EAF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FD3218-9B84-46C0-92E4-9BE90045B87C}"/>
              </a:ext>
            </a:extLst>
          </p:cNvPr>
          <p:cNvSpPr>
            <a:spLocks noGrp="1"/>
          </p:cNvSpPr>
          <p:nvPr/>
        </p:nvSpPr>
        <p:spPr>
          <a:xfrm>
            <a:off x="11283577" y="14593"/>
            <a:ext cx="47625" cy="6858000"/>
          </a:xfrm>
          <a:prstGeom prst="rect">
            <a:avLst/>
          </a:prstGeom>
          <a:solidFill>
            <a:srgbClr val="3EA7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84B23F-AF75-4070-B18B-D408EFDDECD2}"/>
              </a:ext>
            </a:extLst>
          </p:cNvPr>
          <p:cNvSpPr>
            <a:spLocks noGrp="1"/>
          </p:cNvSpPr>
          <p:nvPr/>
        </p:nvSpPr>
        <p:spPr>
          <a:xfrm>
            <a:off x="11569327" y="14593"/>
            <a:ext cx="47625" cy="6858000"/>
          </a:xfrm>
          <a:prstGeom prst="rect">
            <a:avLst/>
          </a:prstGeom>
          <a:solidFill>
            <a:srgbClr val="FFB1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CAD46A-9F29-4126-BB83-E4CD0F6DC662}"/>
              </a:ext>
            </a:extLst>
          </p:cNvPr>
          <p:cNvSpPr>
            <a:spLocks noGrp="1"/>
          </p:cNvSpPr>
          <p:nvPr/>
        </p:nvSpPr>
        <p:spPr>
          <a:xfrm>
            <a:off x="10266721" y="6140090"/>
            <a:ext cx="2190750" cy="28575"/>
          </a:xfrm>
          <a:prstGeom prst="rect">
            <a:avLst/>
          </a:prstGeom>
          <a:solidFill>
            <a:srgbClr val="FFB1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B907C7-1F0A-44B0-99ED-C931FA45863B}"/>
              </a:ext>
            </a:extLst>
          </p:cNvPr>
          <p:cNvSpPr>
            <a:spLocks noGrp="1"/>
          </p:cNvSpPr>
          <p:nvPr/>
        </p:nvSpPr>
        <p:spPr>
          <a:xfrm>
            <a:off x="10552471" y="6343955"/>
            <a:ext cx="1847850" cy="28575"/>
          </a:xfrm>
          <a:prstGeom prst="rect">
            <a:avLst/>
          </a:prstGeom>
          <a:solidFill>
            <a:srgbClr val="3EA7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67A3A8-DDD9-46B9-AC45-A8F240DA74A2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B1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B15F"/>
                </a:solidFill>
                <a:latin typeface="Aptos"/>
                <a:ea typeface="Aptos"/>
                <a:cs typeface="Aptos"/>
              </a:rPr>
              <a:t>CODESCAPE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154523-A30B-4F33-B9EC-4CA4AB8A9C69}"/>
              </a:ext>
            </a:extLst>
          </p:cNvPr>
          <p:cNvSpPr>
            <a:spLocks noGrp="1"/>
          </p:cNvSpPr>
          <p:nvPr/>
        </p:nvSpPr>
        <p:spPr>
          <a:xfrm>
            <a:off x="514350" y="523875"/>
            <a:ext cx="833437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75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Vizualizarea</a:t>
            </a:r>
            <a:r>
              <a:rPr sz="2475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2475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nivelurilor</a:t>
            </a:r>
            <a:r>
              <a:rPr sz="2475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836C0C-1FE9-4ACB-9780-9DE6D6E0000B}"/>
              </a:ext>
            </a:extLst>
          </p:cNvPr>
          <p:cNvSpPr>
            <a:spLocks noGrp="1"/>
          </p:cNvSpPr>
          <p:nvPr/>
        </p:nvSpPr>
        <p:spPr>
          <a:xfrm>
            <a:off x="10572750" y="6419850"/>
            <a:ext cx="819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41607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16071"/>
                </a:solidFill>
                <a:latin typeface="Aptos"/>
                <a:ea typeface="Aptos"/>
                <a:cs typeface="Aptos"/>
              </a:rPr>
              <a:t>8/12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A46D957-C0F7-422D-906F-1EF78FDA4CC6}"/>
              </a:ext>
            </a:extLst>
          </p:cNvPr>
          <p:cNvSpPr>
            <a:spLocks noGrp="1"/>
          </p:cNvSpPr>
          <p:nvPr/>
        </p:nvSpPr>
        <p:spPr>
          <a:xfrm>
            <a:off x="466725" y="1438275"/>
            <a:ext cx="3292576" cy="1908071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11430">
            <a:solidFill>
              <a:srgbClr val="7EBDE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rcRect l="74" r="74"/>
          <a:stretch>
            <a:fillRect/>
          </a:stretch>
        </p:blipFill>
        <p:spPr>
          <a:xfrm>
            <a:off x="552449" y="1514168"/>
            <a:ext cx="3117273" cy="1756064"/>
          </a:xfrm>
          <a:prstGeom prst="roundRect">
            <a:avLst>
              <a:gd name="adj" fmla="val 3550"/>
            </a:avLst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8263026-D8E4-4533-8E76-53B7ABC797BC}"/>
              </a:ext>
            </a:extLst>
          </p:cNvPr>
          <p:cNvSpPr>
            <a:spLocks noGrp="1"/>
          </p:cNvSpPr>
          <p:nvPr/>
        </p:nvSpPr>
        <p:spPr>
          <a:xfrm>
            <a:off x="571500" y="3588158"/>
            <a:ext cx="876300" cy="304800"/>
          </a:xfrm>
          <a:prstGeom prst="roundRect">
            <a:avLst>
              <a:gd name="adj" fmla="val 25000"/>
            </a:avLst>
          </a:prstGeom>
          <a:solidFill>
            <a:srgbClr val="1E6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38100" rIns="95250" bIns="3810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 dirty="0">
                <a:solidFill>
                  <a:srgbClr val="FFFFFF"/>
                </a:solidFill>
              </a:rPr>
              <a:t>Nivel 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1D78FF-FA75-4E6E-B8AD-DD85EE5F4AC9}"/>
              </a:ext>
            </a:extLst>
          </p:cNvPr>
          <p:cNvSpPr>
            <a:spLocks noGrp="1"/>
          </p:cNvSpPr>
          <p:nvPr/>
        </p:nvSpPr>
        <p:spPr>
          <a:xfrm>
            <a:off x="1624780" y="3628868"/>
            <a:ext cx="2031422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lang="ro-RO" sz="1425" b="1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Conversie binar-zecimal</a:t>
            </a:r>
            <a:endParaRPr sz="1425" b="1" dirty="0">
              <a:solidFill>
                <a:srgbClr val="14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9D948E-3263-4B67-9F46-FB32D22B9B62}"/>
              </a:ext>
            </a:extLst>
          </p:cNvPr>
          <p:cNvSpPr>
            <a:spLocks noGrp="1"/>
          </p:cNvSpPr>
          <p:nvPr/>
        </p:nvSpPr>
        <p:spPr>
          <a:xfrm>
            <a:off x="571501" y="4058877"/>
            <a:ext cx="3098222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lang="ro-RO" sz="1400" b="0" dirty="0">
                <a:solidFill>
                  <a:srgbClr val="425466"/>
                </a:solidFill>
                <a:latin typeface="Aptos"/>
                <a:ea typeface="Aptos"/>
                <a:cs typeface="Aptos"/>
              </a:rPr>
              <a:t>Reprezentare </a:t>
            </a:r>
            <a:r>
              <a:rPr lang="ro-RO" sz="1400" dirty="0">
                <a:solidFill>
                  <a:srgbClr val="425466"/>
                </a:solidFill>
                <a:latin typeface="Aptos"/>
                <a:ea typeface="Aptos"/>
                <a:cs typeface="Aptos"/>
              </a:rPr>
              <a:t>vizuală prin cuburi 0/1.</a:t>
            </a:r>
            <a:endParaRPr sz="1400" b="0" dirty="0">
              <a:solidFill>
                <a:srgbClr val="42546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92B7C50-E81D-4A21-98B1-8168A2742E7E}"/>
              </a:ext>
            </a:extLst>
          </p:cNvPr>
          <p:cNvSpPr>
            <a:spLocks noGrp="1"/>
          </p:cNvSpPr>
          <p:nvPr/>
        </p:nvSpPr>
        <p:spPr>
          <a:xfrm>
            <a:off x="3998042" y="1438275"/>
            <a:ext cx="3292577" cy="1943099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11430">
            <a:solidFill>
              <a:srgbClr val="7EBDE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" r="74"/>
          <a:stretch/>
        </p:blipFill>
        <p:spPr>
          <a:xfrm>
            <a:off x="4083767" y="1524000"/>
            <a:ext cx="3117273" cy="1756064"/>
          </a:xfrm>
          <a:prstGeom prst="roundRect">
            <a:avLst>
              <a:gd name="adj" fmla="val 3550"/>
            </a:avLst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21F08CE-5160-4F4D-9263-45DF349ADACE}"/>
              </a:ext>
            </a:extLst>
          </p:cNvPr>
          <p:cNvSpPr>
            <a:spLocks noGrp="1"/>
          </p:cNvSpPr>
          <p:nvPr/>
        </p:nvSpPr>
        <p:spPr>
          <a:xfrm>
            <a:off x="4102818" y="3578329"/>
            <a:ext cx="876300" cy="304800"/>
          </a:xfrm>
          <a:prstGeom prst="roundRect">
            <a:avLst>
              <a:gd name="adj" fmla="val 25000"/>
            </a:avLst>
          </a:prstGeom>
          <a:solidFill>
            <a:srgbClr val="F28B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38100" rIns="95250" bIns="3810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Nivel 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836A939-6F9B-40D8-B61F-31461ABE9B18}"/>
              </a:ext>
            </a:extLst>
          </p:cNvPr>
          <p:cNvSpPr>
            <a:spLocks noGrp="1"/>
          </p:cNvSpPr>
          <p:nvPr/>
        </p:nvSpPr>
        <p:spPr>
          <a:xfrm>
            <a:off x="5169618" y="3617350"/>
            <a:ext cx="1552575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lang="en-AU" sz="1425" b="1" dirty="0" err="1">
                <a:solidFill>
                  <a:srgbClr val="142033"/>
                </a:solidFill>
                <a:latin typeface="Aptos"/>
                <a:ea typeface="Aptos"/>
                <a:cs typeface="Aptos"/>
              </a:rPr>
              <a:t>Logică</a:t>
            </a:r>
            <a:r>
              <a:rPr lang="en-AU" sz="1425" b="1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 </a:t>
            </a:r>
            <a:r>
              <a:rPr lang="en-AU" sz="1425" b="1" dirty="0" err="1">
                <a:solidFill>
                  <a:srgbClr val="142033"/>
                </a:solidFill>
                <a:latin typeface="Aptos"/>
                <a:ea typeface="Aptos"/>
                <a:cs typeface="Aptos"/>
              </a:rPr>
              <a:t>booleană</a:t>
            </a:r>
            <a:endParaRPr lang="en-AU" sz="1425" b="1" dirty="0">
              <a:solidFill>
                <a:srgbClr val="14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52D9DAA-C83A-4D44-9F43-3DAEF451C74D}"/>
              </a:ext>
            </a:extLst>
          </p:cNvPr>
          <p:cNvSpPr>
            <a:spLocks noGrp="1"/>
          </p:cNvSpPr>
          <p:nvPr/>
        </p:nvSpPr>
        <p:spPr>
          <a:xfrm>
            <a:off x="4239911" y="4022621"/>
            <a:ext cx="261937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425466"/>
                </a:solidFill>
                <a:latin typeface="Aptos"/>
                <a:ea typeface="Aptos"/>
                <a:cs typeface="Aptos"/>
              </a:rPr>
              <a:t>St</a:t>
            </a:r>
            <a:r>
              <a:rPr lang="ro-RO" sz="1400" dirty="0">
                <a:solidFill>
                  <a:srgbClr val="425466"/>
                </a:solidFill>
                <a:latin typeface="Aptos"/>
                <a:ea typeface="Aptos"/>
                <a:cs typeface="Aptos"/>
              </a:rPr>
              <a:t>ă</a:t>
            </a:r>
            <a:r>
              <a:rPr sz="1400" b="0" dirty="0" err="1">
                <a:solidFill>
                  <a:srgbClr val="425466"/>
                </a:solidFill>
                <a:latin typeface="Aptos"/>
                <a:ea typeface="Aptos"/>
                <a:cs typeface="Aptos"/>
              </a:rPr>
              <a:t>ri</a:t>
            </a:r>
            <a:r>
              <a:rPr sz="1400" b="0" dirty="0">
                <a:solidFill>
                  <a:srgbClr val="425466"/>
                </a:solidFill>
                <a:latin typeface="Aptos"/>
                <a:ea typeface="Aptos"/>
                <a:cs typeface="Aptos"/>
              </a:rPr>
              <a:t> active/inactive </a:t>
            </a:r>
            <a:r>
              <a:rPr lang="ro-RO" sz="1400" dirty="0">
                <a:solidFill>
                  <a:srgbClr val="425466"/>
                </a:solidFill>
                <a:latin typeface="Aptos"/>
                <a:ea typeface="Aptos"/>
                <a:cs typeface="Aptos"/>
              </a:rPr>
              <a:t>ș</a:t>
            </a:r>
            <a:r>
              <a:rPr sz="1400" b="0" dirty="0" err="1">
                <a:solidFill>
                  <a:srgbClr val="425466"/>
                </a:solidFill>
                <a:latin typeface="Aptos"/>
                <a:ea typeface="Aptos"/>
                <a:cs typeface="Aptos"/>
              </a:rPr>
              <a:t>i</a:t>
            </a:r>
            <a:r>
              <a:rPr sz="1400" b="0" dirty="0">
                <a:solidFill>
                  <a:srgbClr val="425466"/>
                </a:solidFill>
                <a:latin typeface="Aptos"/>
                <a:ea typeface="Aptos"/>
                <a:cs typeface="Aptos"/>
              </a:rPr>
              <a:t> feedback pe reactor.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A38409F-7006-41C4-A7CC-F04D149912A5}"/>
              </a:ext>
            </a:extLst>
          </p:cNvPr>
          <p:cNvSpPr>
            <a:spLocks noGrp="1"/>
          </p:cNvSpPr>
          <p:nvPr/>
        </p:nvSpPr>
        <p:spPr>
          <a:xfrm>
            <a:off x="7509694" y="1438275"/>
            <a:ext cx="3310706" cy="1943100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11430">
            <a:solidFill>
              <a:srgbClr val="7EBDE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" r="74"/>
          <a:stretch/>
        </p:blipFill>
        <p:spPr>
          <a:xfrm>
            <a:off x="7615083" y="1524000"/>
            <a:ext cx="3117273" cy="1756064"/>
          </a:xfrm>
          <a:prstGeom prst="roundRect">
            <a:avLst>
              <a:gd name="adj" fmla="val 3550"/>
            </a:avLst>
          </a:prstGeom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D333DD0-4D3F-4B9D-ACE3-E38E2949B0C6}"/>
              </a:ext>
            </a:extLst>
          </p:cNvPr>
          <p:cNvSpPr>
            <a:spLocks noGrp="1"/>
          </p:cNvSpPr>
          <p:nvPr/>
        </p:nvSpPr>
        <p:spPr>
          <a:xfrm>
            <a:off x="7614470" y="3548831"/>
            <a:ext cx="876300" cy="304800"/>
          </a:xfrm>
          <a:prstGeom prst="roundRect">
            <a:avLst>
              <a:gd name="adj" fmla="val 25000"/>
            </a:avLst>
          </a:prstGeom>
          <a:solidFill>
            <a:srgbClr val="1E6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38100" rIns="95250" bIns="3810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Nivel 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2BA2F0B-80C8-4CCC-9A50-A96B976BE426}"/>
              </a:ext>
            </a:extLst>
          </p:cNvPr>
          <p:cNvSpPr>
            <a:spLocks noGrp="1"/>
          </p:cNvSpPr>
          <p:nvPr/>
        </p:nvSpPr>
        <p:spPr>
          <a:xfrm>
            <a:off x="8681270" y="3587852"/>
            <a:ext cx="18859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425" b="1" dirty="0" err="1">
                <a:solidFill>
                  <a:srgbClr val="142033"/>
                </a:solidFill>
                <a:latin typeface="Aptos"/>
                <a:ea typeface="Aptos"/>
                <a:cs typeface="Aptos"/>
              </a:rPr>
              <a:t>Structura</a:t>
            </a:r>
            <a:r>
              <a:rPr sz="1425" b="1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 de tip </a:t>
            </a:r>
            <a:r>
              <a:rPr sz="1425" b="1" dirty="0" err="1">
                <a:solidFill>
                  <a:srgbClr val="142033"/>
                </a:solidFill>
                <a:latin typeface="Aptos"/>
                <a:ea typeface="Aptos"/>
                <a:cs typeface="Aptos"/>
              </a:rPr>
              <a:t>stiv</a:t>
            </a:r>
            <a:r>
              <a:rPr lang="ro-RO" sz="1425" b="1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ă</a:t>
            </a:r>
            <a:endParaRPr sz="1425" b="1" dirty="0">
              <a:solidFill>
                <a:srgbClr val="14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B472ECD-A16A-4D7D-90DE-DC0BBB8E5748}"/>
              </a:ext>
            </a:extLst>
          </p:cNvPr>
          <p:cNvSpPr>
            <a:spLocks noGrp="1"/>
          </p:cNvSpPr>
          <p:nvPr/>
        </p:nvSpPr>
        <p:spPr>
          <a:xfrm>
            <a:off x="7750040" y="3983070"/>
            <a:ext cx="261937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lang="ro-RO" sz="1300" dirty="0">
                <a:solidFill>
                  <a:srgbClr val="425466"/>
                </a:solidFill>
                <a:latin typeface="Aptos"/>
                <a:ea typeface="Aptos"/>
                <a:cs typeface="Aptos"/>
              </a:rPr>
              <a:t>Ordonarea elementelor r</a:t>
            </a:r>
            <a:r>
              <a:rPr lang="en-AU" sz="1300" b="0" dirty="0" err="1">
                <a:solidFill>
                  <a:srgbClr val="425466"/>
                </a:solidFill>
                <a:latin typeface="Aptos"/>
                <a:ea typeface="Aptos"/>
                <a:cs typeface="Aptos"/>
              </a:rPr>
              <a:t>espect</a:t>
            </a:r>
            <a:r>
              <a:rPr lang="ro-RO" sz="1300" b="0" dirty="0" err="1">
                <a:solidFill>
                  <a:srgbClr val="425466"/>
                </a:solidFill>
                <a:latin typeface="Aptos"/>
                <a:ea typeface="Aptos"/>
                <a:cs typeface="Aptos"/>
              </a:rPr>
              <a:t>ând</a:t>
            </a:r>
            <a:r>
              <a:rPr lang="en-AU" sz="1300" b="0" dirty="0">
                <a:solidFill>
                  <a:srgbClr val="425466"/>
                </a:solidFill>
                <a:latin typeface="Aptos"/>
                <a:ea typeface="Aptos"/>
                <a:cs typeface="Aptos"/>
              </a:rPr>
              <a:t> </a:t>
            </a:r>
            <a:r>
              <a:rPr sz="1300" b="0" dirty="0" err="1">
                <a:solidFill>
                  <a:srgbClr val="425466"/>
                </a:solidFill>
                <a:latin typeface="Aptos"/>
                <a:ea typeface="Aptos"/>
                <a:cs typeface="Aptos"/>
              </a:rPr>
              <a:t>principiul</a:t>
            </a:r>
            <a:r>
              <a:rPr lang="en-AU" sz="1300" b="0" dirty="0" err="1">
                <a:solidFill>
                  <a:srgbClr val="425466"/>
                </a:solidFill>
                <a:latin typeface="Aptos"/>
                <a:ea typeface="Aptos"/>
                <a:cs typeface="Aptos"/>
              </a:rPr>
              <a:t>ui</a:t>
            </a:r>
            <a:r>
              <a:rPr sz="1300" b="0" dirty="0">
                <a:solidFill>
                  <a:srgbClr val="425466"/>
                </a:solidFill>
                <a:latin typeface="Aptos"/>
                <a:ea typeface="Aptos"/>
                <a:cs typeface="Aptos"/>
              </a:rPr>
              <a:t> LIFO.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0484811-D9D6-4D03-846B-CB37FDE9A4FD}"/>
              </a:ext>
            </a:extLst>
          </p:cNvPr>
          <p:cNvSpPr>
            <a:spLocks noGrp="1"/>
          </p:cNvSpPr>
          <p:nvPr/>
        </p:nvSpPr>
        <p:spPr>
          <a:xfrm>
            <a:off x="1724249" y="5285758"/>
            <a:ext cx="80962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123B68"/>
                </a:solidFill>
                <a:latin typeface="Aptos"/>
                <a:ea typeface="Aptos"/>
                <a:cs typeface="Aptos"/>
              </a:defRPr>
            </a:pPr>
            <a:r>
              <a:rPr lang="it-IT" sz="1800" b="1" dirty="0">
                <a:solidFill>
                  <a:srgbClr val="123B68"/>
                </a:solidFill>
                <a:latin typeface="Aptos"/>
                <a:ea typeface="Aptos"/>
                <a:cs typeface="Aptos"/>
              </a:rPr>
              <a:t>Primele niveluri introduc progresiv concepte fundamentale prin interac</a:t>
            </a:r>
            <a:r>
              <a:rPr lang="ro-RO" b="1" dirty="0">
                <a:solidFill>
                  <a:srgbClr val="123B68"/>
                </a:solidFill>
                <a:latin typeface="Aptos"/>
                <a:ea typeface="Aptos"/>
                <a:cs typeface="Aptos"/>
              </a:rPr>
              <a:t>ț</a:t>
            </a:r>
            <a:r>
              <a:rPr lang="it-IT" sz="1800" b="1" dirty="0">
                <a:solidFill>
                  <a:srgbClr val="123B68"/>
                </a:solidFill>
                <a:latin typeface="Aptos"/>
                <a:ea typeface="Aptos"/>
                <a:cs typeface="Aptos"/>
              </a:rPr>
              <a:t>iuni vizuale </a:t>
            </a:r>
            <a:r>
              <a:rPr lang="ro-RO" sz="1800" b="1" dirty="0">
                <a:solidFill>
                  <a:srgbClr val="123B68"/>
                </a:solidFill>
                <a:latin typeface="Aptos"/>
                <a:ea typeface="Aptos"/>
                <a:cs typeface="Aptos"/>
              </a:rPr>
              <a:t>ș</a:t>
            </a:r>
            <a:r>
              <a:rPr lang="it-IT" sz="1800" b="1" dirty="0">
                <a:solidFill>
                  <a:srgbClr val="123B68"/>
                </a:solidFill>
                <a:latin typeface="Aptos"/>
                <a:ea typeface="Aptos"/>
                <a:cs typeface="Aptos"/>
              </a:rPr>
              <a:t>i reguli de validare.</a:t>
            </a:r>
            <a:endParaRPr sz="1800" b="1" dirty="0">
              <a:solidFill>
                <a:srgbClr val="123B68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5E0140D-33B0-C4D6-6F13-8E0088AC8E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9744161" y="123372"/>
            <a:ext cx="2290523" cy="78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24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178A6810-8BAA-4A76-8839-007BC364ED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5BF0C6-1AD7-49E9-8C56-4036062998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23950"/>
          </a:xfrm>
          <a:prstGeom prst="rect">
            <a:avLst/>
          </a:prstGeom>
          <a:solidFill>
            <a:srgbClr val="123B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C34664-2849-4CEC-9147-1EF9A51A7E8D}"/>
              </a:ext>
            </a:extLst>
          </p:cNvPr>
          <p:cNvSpPr>
            <a:spLocks noGrp="1"/>
          </p:cNvSpPr>
          <p:nvPr/>
        </p:nvSpPr>
        <p:spPr>
          <a:xfrm>
            <a:off x="0" y="1123950"/>
            <a:ext cx="12192000" cy="76200"/>
          </a:xfrm>
          <a:prstGeom prst="rect">
            <a:avLst/>
          </a:prstGeom>
          <a:solidFill>
            <a:srgbClr val="F28B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7A9AB2-61C0-4573-B3B3-5A31DD26C318}"/>
              </a:ext>
            </a:extLst>
          </p:cNvPr>
          <p:cNvSpPr>
            <a:spLocks noGrp="1"/>
          </p:cNvSpPr>
          <p:nvPr/>
        </p:nvSpPr>
        <p:spPr>
          <a:xfrm>
            <a:off x="10477500" y="0"/>
            <a:ext cx="1047750" cy="6858000"/>
          </a:xfrm>
          <a:prstGeom prst="rect">
            <a:avLst/>
          </a:prstGeom>
          <a:solidFill>
            <a:srgbClr val="EAF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E2C279-476F-4449-977B-56E24DD69F5A}"/>
              </a:ext>
            </a:extLst>
          </p:cNvPr>
          <p:cNvSpPr>
            <a:spLocks noGrp="1"/>
          </p:cNvSpPr>
          <p:nvPr/>
        </p:nvSpPr>
        <p:spPr>
          <a:xfrm>
            <a:off x="10610850" y="0"/>
            <a:ext cx="47625" cy="6858000"/>
          </a:xfrm>
          <a:prstGeom prst="rect">
            <a:avLst/>
          </a:prstGeom>
          <a:solidFill>
            <a:srgbClr val="3EA7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B76D2E-E255-415F-8A84-64452129ED71}"/>
              </a:ext>
            </a:extLst>
          </p:cNvPr>
          <p:cNvSpPr>
            <a:spLocks noGrp="1"/>
          </p:cNvSpPr>
          <p:nvPr/>
        </p:nvSpPr>
        <p:spPr>
          <a:xfrm>
            <a:off x="10896600" y="0"/>
            <a:ext cx="47625" cy="6858000"/>
          </a:xfrm>
          <a:prstGeom prst="rect">
            <a:avLst/>
          </a:prstGeom>
          <a:solidFill>
            <a:srgbClr val="FFB1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B60092-9EBB-4DF2-A8D4-6D758C04A373}"/>
              </a:ext>
            </a:extLst>
          </p:cNvPr>
          <p:cNvSpPr>
            <a:spLocks noGrp="1"/>
          </p:cNvSpPr>
          <p:nvPr/>
        </p:nvSpPr>
        <p:spPr>
          <a:xfrm>
            <a:off x="9659579" y="5962650"/>
            <a:ext cx="2190750" cy="28575"/>
          </a:xfrm>
          <a:prstGeom prst="rect">
            <a:avLst/>
          </a:prstGeom>
          <a:solidFill>
            <a:srgbClr val="FFB1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D377A6-0C58-4C90-8EFE-69236CB10A45}"/>
              </a:ext>
            </a:extLst>
          </p:cNvPr>
          <p:cNvSpPr>
            <a:spLocks noGrp="1"/>
          </p:cNvSpPr>
          <p:nvPr/>
        </p:nvSpPr>
        <p:spPr>
          <a:xfrm>
            <a:off x="9945329" y="6191250"/>
            <a:ext cx="1847850" cy="28575"/>
          </a:xfrm>
          <a:prstGeom prst="rect">
            <a:avLst/>
          </a:prstGeom>
          <a:solidFill>
            <a:srgbClr val="3EA7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050643-EE57-47BF-B864-6052992955EB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B15F"/>
                </a:solidFill>
                <a:latin typeface="Aptos"/>
                <a:ea typeface="Aptos"/>
                <a:cs typeface="Aptos"/>
              </a:defRPr>
            </a:pPr>
            <a:r>
              <a:rPr sz="975" b="1" dirty="0">
                <a:solidFill>
                  <a:srgbClr val="FFB15F"/>
                </a:solidFill>
                <a:latin typeface="Aptos"/>
                <a:ea typeface="Aptos"/>
                <a:cs typeface="Aptos"/>
              </a:rPr>
              <a:t>CODESCAPE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404DB1-3134-4914-947B-4E2EB47DEB69}"/>
              </a:ext>
            </a:extLst>
          </p:cNvPr>
          <p:cNvSpPr>
            <a:spLocks noGrp="1"/>
          </p:cNvSpPr>
          <p:nvPr/>
        </p:nvSpPr>
        <p:spPr>
          <a:xfrm>
            <a:off x="514350" y="523875"/>
            <a:ext cx="833437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75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Vizualizarea</a:t>
            </a:r>
            <a:r>
              <a:rPr sz="2475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2475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nivelurilor</a:t>
            </a:r>
            <a:r>
              <a:rPr sz="2475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II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DE375E-4D73-4098-AA39-BD7867909747}"/>
              </a:ext>
            </a:extLst>
          </p:cNvPr>
          <p:cNvSpPr>
            <a:spLocks noGrp="1"/>
          </p:cNvSpPr>
          <p:nvPr/>
        </p:nvSpPr>
        <p:spPr>
          <a:xfrm>
            <a:off x="10572750" y="6419850"/>
            <a:ext cx="819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41607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16071"/>
                </a:solidFill>
                <a:latin typeface="Aptos"/>
                <a:ea typeface="Aptos"/>
                <a:cs typeface="Aptos"/>
              </a:rPr>
              <a:t>9/12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65EFC65-BF74-4802-BA5C-4DD23D24B7CC}"/>
              </a:ext>
            </a:extLst>
          </p:cNvPr>
          <p:cNvSpPr>
            <a:spLocks noGrp="1"/>
          </p:cNvSpPr>
          <p:nvPr/>
        </p:nvSpPr>
        <p:spPr>
          <a:xfrm>
            <a:off x="581025" y="1419225"/>
            <a:ext cx="4124325" cy="240030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1430">
            <a:solidFill>
              <a:srgbClr val="7EBDE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" r="120"/>
          <a:stretch/>
        </p:blipFill>
        <p:spPr>
          <a:xfrm>
            <a:off x="666750" y="1504950"/>
            <a:ext cx="3952875" cy="2228850"/>
          </a:xfrm>
          <a:prstGeom prst="roundRect">
            <a:avLst>
              <a:gd name="adj" fmla="val 2564"/>
            </a:avLst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18DAA11-070E-44A6-A649-A9CF67F7BB28}"/>
              </a:ext>
            </a:extLst>
          </p:cNvPr>
          <p:cNvSpPr>
            <a:spLocks noGrp="1"/>
          </p:cNvSpPr>
          <p:nvPr/>
        </p:nvSpPr>
        <p:spPr>
          <a:xfrm>
            <a:off x="742950" y="4038600"/>
            <a:ext cx="876300" cy="304800"/>
          </a:xfrm>
          <a:prstGeom prst="roundRect">
            <a:avLst>
              <a:gd name="adj" fmla="val 25000"/>
            </a:avLst>
          </a:prstGeom>
          <a:solidFill>
            <a:srgbClr val="F28B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38100" rIns="95250" bIns="3810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 dirty="0">
                <a:solidFill>
                  <a:srgbClr val="FFFFFF"/>
                </a:solidFill>
              </a:rPr>
              <a:t>Nivel 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479534-77CD-468A-8997-F237759B7C1B}"/>
              </a:ext>
            </a:extLst>
          </p:cNvPr>
          <p:cNvSpPr>
            <a:spLocks noGrp="1"/>
          </p:cNvSpPr>
          <p:nvPr/>
        </p:nvSpPr>
        <p:spPr>
          <a:xfrm>
            <a:off x="1809750" y="4087453"/>
            <a:ext cx="25527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425" b="1" dirty="0" err="1">
                <a:solidFill>
                  <a:srgbClr val="142033"/>
                </a:solidFill>
                <a:latin typeface="Aptos"/>
                <a:ea typeface="Aptos"/>
                <a:cs typeface="Aptos"/>
              </a:rPr>
              <a:t>Decizii</a:t>
            </a:r>
            <a:r>
              <a:rPr sz="1425" b="1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1" dirty="0" err="1">
                <a:solidFill>
                  <a:srgbClr val="142033"/>
                </a:solidFill>
                <a:latin typeface="Aptos"/>
                <a:ea typeface="Aptos"/>
                <a:cs typeface="Aptos"/>
              </a:rPr>
              <a:t>conditionale</a:t>
            </a:r>
            <a:endParaRPr sz="1425" b="1" dirty="0">
              <a:solidFill>
                <a:srgbClr val="14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592FBB-7F3B-4D1C-B1B3-6D5EB6CCEE77}"/>
              </a:ext>
            </a:extLst>
          </p:cNvPr>
          <p:cNvSpPr>
            <a:spLocks noGrp="1"/>
          </p:cNvSpPr>
          <p:nvPr/>
        </p:nvSpPr>
        <p:spPr>
          <a:xfrm>
            <a:off x="742950" y="4567237"/>
            <a:ext cx="3619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300" b="0" dirty="0" err="1">
                <a:solidFill>
                  <a:srgbClr val="425466"/>
                </a:solidFill>
                <a:latin typeface="Aptos"/>
                <a:ea typeface="Aptos"/>
                <a:cs typeface="Aptos"/>
              </a:rPr>
              <a:t>Alegere</a:t>
            </a:r>
            <a:r>
              <a:rPr sz="1300" b="0" dirty="0">
                <a:solidFill>
                  <a:srgbClr val="425466"/>
                </a:solidFill>
                <a:latin typeface="Aptos"/>
                <a:ea typeface="Aptos"/>
                <a:cs typeface="Aptos"/>
              </a:rPr>
              <a:t> TRUE/FALSE </a:t>
            </a:r>
            <a:r>
              <a:rPr lang="ro-RO" sz="1300" b="0" dirty="0">
                <a:solidFill>
                  <a:srgbClr val="425466"/>
                </a:solidFill>
                <a:latin typeface="Aptos"/>
                <a:ea typeface="Aptos"/>
                <a:cs typeface="Aptos"/>
              </a:rPr>
              <a:t>în</a:t>
            </a:r>
            <a:r>
              <a:rPr sz="1300" b="0" dirty="0">
                <a:solidFill>
                  <a:srgbClr val="425466"/>
                </a:solidFill>
                <a:latin typeface="Aptos"/>
                <a:ea typeface="Aptos"/>
                <a:cs typeface="Aptos"/>
              </a:rPr>
              <a:t> </a:t>
            </a:r>
            <a:r>
              <a:rPr sz="1300" b="0" dirty="0" err="1">
                <a:solidFill>
                  <a:srgbClr val="425466"/>
                </a:solidFill>
                <a:latin typeface="Aptos"/>
                <a:ea typeface="Aptos"/>
                <a:cs typeface="Aptos"/>
              </a:rPr>
              <a:t>func</a:t>
            </a:r>
            <a:r>
              <a:rPr lang="ro-RO" sz="1300" dirty="0">
                <a:solidFill>
                  <a:srgbClr val="425466"/>
                </a:solidFill>
                <a:latin typeface="Aptos"/>
                <a:ea typeface="Aptos"/>
                <a:cs typeface="Aptos"/>
              </a:rPr>
              <a:t>ț</a:t>
            </a:r>
            <a:r>
              <a:rPr sz="1300" b="0" dirty="0" err="1">
                <a:solidFill>
                  <a:srgbClr val="425466"/>
                </a:solidFill>
                <a:latin typeface="Aptos"/>
                <a:ea typeface="Aptos"/>
                <a:cs typeface="Aptos"/>
              </a:rPr>
              <a:t>ie</a:t>
            </a:r>
            <a:r>
              <a:rPr sz="1300" b="0" dirty="0">
                <a:solidFill>
                  <a:srgbClr val="425466"/>
                </a:solidFill>
                <a:latin typeface="Aptos"/>
                <a:ea typeface="Aptos"/>
                <a:cs typeface="Aptos"/>
              </a:rPr>
              <a:t> de </a:t>
            </a:r>
            <a:r>
              <a:rPr sz="1300" b="0" dirty="0" err="1">
                <a:solidFill>
                  <a:srgbClr val="425466"/>
                </a:solidFill>
                <a:latin typeface="Aptos"/>
                <a:ea typeface="Aptos"/>
                <a:cs typeface="Aptos"/>
              </a:rPr>
              <a:t>condi</a:t>
            </a:r>
            <a:r>
              <a:rPr lang="ro-RO" sz="1300" b="0" dirty="0">
                <a:solidFill>
                  <a:srgbClr val="425466"/>
                </a:solidFill>
                <a:latin typeface="Aptos"/>
                <a:ea typeface="Aptos"/>
                <a:cs typeface="Aptos"/>
              </a:rPr>
              <a:t>ț</a:t>
            </a:r>
            <a:r>
              <a:rPr sz="1300" b="0" dirty="0" err="1">
                <a:solidFill>
                  <a:srgbClr val="425466"/>
                </a:solidFill>
                <a:latin typeface="Aptos"/>
                <a:ea typeface="Aptos"/>
                <a:cs typeface="Aptos"/>
              </a:rPr>
              <a:t>ia</a:t>
            </a:r>
            <a:r>
              <a:rPr sz="1300" b="0" dirty="0">
                <a:solidFill>
                  <a:srgbClr val="425466"/>
                </a:solidFill>
                <a:latin typeface="Aptos"/>
                <a:ea typeface="Aptos"/>
                <a:cs typeface="Aptos"/>
              </a:rPr>
              <a:t> </a:t>
            </a:r>
            <a:r>
              <a:rPr sz="1300" b="0" dirty="0" err="1">
                <a:solidFill>
                  <a:srgbClr val="425466"/>
                </a:solidFill>
                <a:latin typeface="Aptos"/>
                <a:ea typeface="Aptos"/>
                <a:cs typeface="Aptos"/>
              </a:rPr>
              <a:t>afisat</a:t>
            </a:r>
            <a:r>
              <a:rPr lang="ro-RO" sz="1300" b="0" dirty="0">
                <a:solidFill>
                  <a:srgbClr val="425466"/>
                </a:solidFill>
                <a:latin typeface="Aptos"/>
                <a:ea typeface="Aptos"/>
                <a:cs typeface="Aptos"/>
              </a:rPr>
              <a:t>ă</a:t>
            </a:r>
            <a:r>
              <a:rPr sz="1300" b="0" dirty="0">
                <a:solidFill>
                  <a:srgbClr val="425466"/>
                </a:solidFill>
                <a:latin typeface="Aptos"/>
                <a:ea typeface="Aptos"/>
                <a:cs typeface="Aptos"/>
              </a:rPr>
              <a:t> </a:t>
            </a:r>
            <a:r>
              <a:rPr lang="ro-RO" sz="1300" dirty="0">
                <a:solidFill>
                  <a:srgbClr val="425466"/>
                </a:solidFill>
                <a:latin typeface="Aptos"/>
                <a:ea typeface="Aptos"/>
                <a:cs typeface="Aptos"/>
              </a:rPr>
              <a:t>ș</a:t>
            </a:r>
            <a:r>
              <a:rPr sz="1300" b="0" dirty="0" err="1">
                <a:solidFill>
                  <a:srgbClr val="425466"/>
                </a:solidFill>
                <a:latin typeface="Aptos"/>
                <a:ea typeface="Aptos"/>
                <a:cs typeface="Aptos"/>
              </a:rPr>
              <a:t>i</a:t>
            </a:r>
            <a:r>
              <a:rPr sz="1300" b="0" dirty="0">
                <a:solidFill>
                  <a:srgbClr val="425466"/>
                </a:solidFill>
                <a:latin typeface="Aptos"/>
                <a:ea typeface="Aptos"/>
                <a:cs typeface="Aptos"/>
              </a:rPr>
              <a:t> de </a:t>
            </a:r>
            <a:r>
              <a:rPr sz="1300" b="0" dirty="0" err="1">
                <a:solidFill>
                  <a:srgbClr val="425466"/>
                </a:solidFill>
                <a:latin typeface="Aptos"/>
                <a:ea typeface="Aptos"/>
                <a:cs typeface="Aptos"/>
              </a:rPr>
              <a:t>culoarea</a:t>
            </a:r>
            <a:r>
              <a:rPr sz="1300" b="0" dirty="0">
                <a:solidFill>
                  <a:srgbClr val="425466"/>
                </a:solidFill>
                <a:latin typeface="Aptos"/>
                <a:ea typeface="Aptos"/>
                <a:cs typeface="Aptos"/>
              </a:rPr>
              <a:t> </a:t>
            </a:r>
            <a:r>
              <a:rPr sz="1300" b="0" dirty="0" err="1">
                <a:solidFill>
                  <a:srgbClr val="425466"/>
                </a:solidFill>
                <a:latin typeface="Aptos"/>
                <a:ea typeface="Aptos"/>
                <a:cs typeface="Aptos"/>
              </a:rPr>
              <a:t>sferei</a:t>
            </a:r>
            <a:r>
              <a:rPr sz="1300" b="0" dirty="0">
                <a:solidFill>
                  <a:srgbClr val="425466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3585529-C341-4EBE-B485-2A0A51610BDB}"/>
              </a:ext>
            </a:extLst>
          </p:cNvPr>
          <p:cNvSpPr>
            <a:spLocks noGrp="1"/>
          </p:cNvSpPr>
          <p:nvPr/>
        </p:nvSpPr>
        <p:spPr>
          <a:xfrm>
            <a:off x="5631733" y="1419225"/>
            <a:ext cx="4124325" cy="240030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1430">
            <a:solidFill>
              <a:srgbClr val="7EBDE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" r="120"/>
          <a:stretch/>
        </p:blipFill>
        <p:spPr>
          <a:xfrm>
            <a:off x="5717458" y="1504950"/>
            <a:ext cx="3952875" cy="2228850"/>
          </a:xfrm>
          <a:prstGeom prst="roundRect">
            <a:avLst>
              <a:gd name="adj" fmla="val 2564"/>
            </a:avLst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8978BD7-E009-4E5D-B4CE-C38D73784BDF}"/>
              </a:ext>
            </a:extLst>
          </p:cNvPr>
          <p:cNvSpPr>
            <a:spLocks noGrp="1"/>
          </p:cNvSpPr>
          <p:nvPr/>
        </p:nvSpPr>
        <p:spPr>
          <a:xfrm>
            <a:off x="5793658" y="4038600"/>
            <a:ext cx="876300" cy="304800"/>
          </a:xfrm>
          <a:prstGeom prst="roundRect">
            <a:avLst>
              <a:gd name="adj" fmla="val 25000"/>
            </a:avLst>
          </a:prstGeom>
          <a:solidFill>
            <a:srgbClr val="1E6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38100" rIns="95250" bIns="3810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Nivel 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739C99-CBF6-4C6A-90ED-9AD481AA5EFC}"/>
              </a:ext>
            </a:extLst>
          </p:cNvPr>
          <p:cNvSpPr>
            <a:spLocks noGrp="1"/>
          </p:cNvSpPr>
          <p:nvPr/>
        </p:nvSpPr>
        <p:spPr>
          <a:xfrm>
            <a:off x="6860458" y="4077621"/>
            <a:ext cx="25527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425" b="1" dirty="0" err="1">
                <a:solidFill>
                  <a:srgbClr val="142033"/>
                </a:solidFill>
                <a:latin typeface="Aptos"/>
                <a:ea typeface="Aptos"/>
                <a:cs typeface="Aptos"/>
              </a:rPr>
              <a:t>Structuri</a:t>
            </a:r>
            <a:r>
              <a:rPr sz="1425" b="1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 repetitive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5C0C2F-D01E-4A7A-91A1-0F771FA886DA}"/>
              </a:ext>
            </a:extLst>
          </p:cNvPr>
          <p:cNvSpPr>
            <a:spLocks noGrp="1"/>
          </p:cNvSpPr>
          <p:nvPr/>
        </p:nvSpPr>
        <p:spPr>
          <a:xfrm>
            <a:off x="5738813" y="4548314"/>
            <a:ext cx="3619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lang="pt-BR" sz="1300" b="0" dirty="0">
                <a:solidFill>
                  <a:srgbClr val="425466"/>
                </a:solidFill>
                <a:latin typeface="Aptos"/>
                <a:ea typeface="Aptos"/>
                <a:cs typeface="Aptos"/>
              </a:rPr>
              <a:t>Aruncarea pachetelor cre</a:t>
            </a:r>
            <a:r>
              <a:rPr lang="ro-RO" sz="1300" b="0" dirty="0">
                <a:solidFill>
                  <a:srgbClr val="425466"/>
                </a:solidFill>
                <a:latin typeface="Aptos"/>
                <a:ea typeface="Aptos"/>
                <a:cs typeface="Aptos"/>
              </a:rPr>
              <a:t>ș</a:t>
            </a:r>
            <a:r>
              <a:rPr lang="pt-BR" sz="1300" b="0" dirty="0">
                <a:solidFill>
                  <a:srgbClr val="425466"/>
                </a:solidFill>
                <a:latin typeface="Aptos"/>
                <a:ea typeface="Aptos"/>
                <a:cs typeface="Aptos"/>
              </a:rPr>
              <a:t>te contorul, iar butonul “Execut</a:t>
            </a:r>
            <a:r>
              <a:rPr lang="ro-RO" sz="1300" dirty="0">
                <a:solidFill>
                  <a:srgbClr val="425466"/>
                </a:solidFill>
                <a:latin typeface="Aptos"/>
                <a:ea typeface="Aptos"/>
                <a:cs typeface="Aptos"/>
              </a:rPr>
              <a:t>ă</a:t>
            </a:r>
            <a:r>
              <a:rPr lang="en-AU" sz="1300" dirty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”</a:t>
            </a:r>
            <a:r>
              <a:rPr lang="pt-BR" sz="1300" b="0" dirty="0">
                <a:solidFill>
                  <a:srgbClr val="425466"/>
                </a:solidFill>
                <a:latin typeface="Aptos"/>
                <a:ea typeface="Aptos"/>
                <a:cs typeface="Aptos"/>
              </a:rPr>
              <a:t> validea</a:t>
            </a:r>
            <a:r>
              <a:rPr lang="ro-RO" sz="1300" b="0" dirty="0" err="1">
                <a:solidFill>
                  <a:srgbClr val="425466"/>
                </a:solidFill>
                <a:latin typeface="Aptos"/>
                <a:ea typeface="Aptos"/>
                <a:cs typeface="Aptos"/>
              </a:rPr>
              <a:t>ză</a:t>
            </a:r>
            <a:r>
              <a:rPr lang="pt-BR" sz="1300" b="0" dirty="0">
                <a:solidFill>
                  <a:srgbClr val="425466"/>
                </a:solidFill>
                <a:latin typeface="Aptos"/>
                <a:ea typeface="Aptos"/>
                <a:cs typeface="Aptos"/>
              </a:rPr>
              <a:t> limita buclei.</a:t>
            </a:r>
            <a:endParaRPr lang="it-IT" sz="1300" b="0" dirty="0">
              <a:solidFill>
                <a:srgbClr val="42546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2DFAB98-5FB9-46F3-8C88-8E4C8652749A}"/>
              </a:ext>
            </a:extLst>
          </p:cNvPr>
          <p:cNvSpPr>
            <a:spLocks noGrp="1"/>
          </p:cNvSpPr>
          <p:nvPr/>
        </p:nvSpPr>
        <p:spPr>
          <a:xfrm>
            <a:off x="801329" y="5476875"/>
            <a:ext cx="8858250" cy="514350"/>
          </a:xfrm>
          <a:prstGeom prst="roundRect">
            <a:avLst>
              <a:gd name="adj" fmla="val 14815"/>
            </a:avLst>
          </a:prstGeom>
          <a:solidFill>
            <a:srgbClr val="FFF6EA"/>
          </a:solidFill>
          <a:ln w="11430">
            <a:solidFill>
              <a:srgbClr val="F5C28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8D5CACA-0AF3-43A7-91D2-8BB2B74EFDA4}"/>
              </a:ext>
            </a:extLst>
          </p:cNvPr>
          <p:cNvSpPr>
            <a:spLocks noGrp="1"/>
          </p:cNvSpPr>
          <p:nvPr/>
        </p:nvSpPr>
        <p:spPr>
          <a:xfrm>
            <a:off x="959106" y="5600699"/>
            <a:ext cx="8542696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500" b="1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Cele </a:t>
            </a:r>
            <a:r>
              <a:rPr sz="1500" b="1" dirty="0" err="1">
                <a:solidFill>
                  <a:srgbClr val="142033"/>
                </a:solidFill>
                <a:latin typeface="Aptos"/>
                <a:ea typeface="Aptos"/>
                <a:cs typeface="Aptos"/>
              </a:rPr>
              <a:t>doua</a:t>
            </a:r>
            <a:r>
              <a:rPr sz="1500" b="1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1" dirty="0" err="1">
                <a:solidFill>
                  <a:srgbClr val="142033"/>
                </a:solidFill>
                <a:latin typeface="Aptos"/>
                <a:ea typeface="Aptos"/>
                <a:cs typeface="Aptos"/>
              </a:rPr>
              <a:t>niveluri</a:t>
            </a:r>
            <a:r>
              <a:rPr sz="1500" b="1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 finale pun accent pe </a:t>
            </a:r>
            <a:r>
              <a:rPr sz="1500" b="1" dirty="0" err="1">
                <a:solidFill>
                  <a:srgbClr val="142033"/>
                </a:solidFill>
                <a:latin typeface="Aptos"/>
                <a:ea typeface="Aptos"/>
                <a:cs typeface="Aptos"/>
              </a:rPr>
              <a:t>luarea</a:t>
            </a:r>
            <a:r>
              <a:rPr sz="1500" b="1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1" dirty="0" err="1">
                <a:solidFill>
                  <a:srgbClr val="142033"/>
                </a:solidFill>
                <a:latin typeface="Aptos"/>
                <a:ea typeface="Aptos"/>
                <a:cs typeface="Aptos"/>
              </a:rPr>
              <a:t>deciziilor</a:t>
            </a:r>
            <a:r>
              <a:rPr sz="1500" b="1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 </a:t>
            </a:r>
            <a:r>
              <a:rPr lang="ro-RO" sz="1500" b="1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ș</a:t>
            </a:r>
            <a:r>
              <a:rPr sz="1500" b="1" dirty="0" err="1">
                <a:solidFill>
                  <a:srgbClr val="142033"/>
                </a:solidFill>
                <a:latin typeface="Aptos"/>
                <a:ea typeface="Aptos"/>
                <a:cs typeface="Aptos"/>
              </a:rPr>
              <a:t>i</a:t>
            </a:r>
            <a:r>
              <a:rPr sz="1500" b="1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 pe </a:t>
            </a:r>
            <a:r>
              <a:rPr lang="ro-RO" sz="1500" b="1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î</a:t>
            </a:r>
            <a:r>
              <a:rPr sz="1500" b="1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n</a:t>
            </a:r>
            <a:r>
              <a:rPr lang="ro-RO" sz="1500" b="1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ț</a:t>
            </a:r>
            <a:r>
              <a:rPr sz="1500" b="1" dirty="0" err="1">
                <a:solidFill>
                  <a:srgbClr val="142033"/>
                </a:solidFill>
                <a:latin typeface="Aptos"/>
                <a:ea typeface="Aptos"/>
                <a:cs typeface="Aptos"/>
              </a:rPr>
              <a:t>elegerea</a:t>
            </a:r>
            <a:r>
              <a:rPr sz="1500" b="1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1" dirty="0" err="1">
                <a:solidFill>
                  <a:srgbClr val="142033"/>
                </a:solidFill>
                <a:latin typeface="Aptos"/>
                <a:ea typeface="Aptos"/>
                <a:cs typeface="Aptos"/>
              </a:rPr>
              <a:t>unei</a:t>
            </a:r>
            <a:r>
              <a:rPr sz="1500" b="1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 reguli </a:t>
            </a:r>
            <a:r>
              <a:rPr sz="1500" b="1" dirty="0" err="1">
                <a:solidFill>
                  <a:srgbClr val="142033"/>
                </a:solidFill>
                <a:latin typeface="Aptos"/>
                <a:ea typeface="Aptos"/>
                <a:cs typeface="Aptos"/>
              </a:rPr>
              <a:t>repetate</a:t>
            </a:r>
            <a:r>
              <a:rPr sz="1500" b="1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EA1D9DA-170C-7E2F-8E3A-EE8F865674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744161" y="123372"/>
            <a:ext cx="2290523" cy="78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633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1E6EDD14-BB0B-185C-77F9-718A1D70AC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2FBAB73-ACA1-466B-9747-0EB927667A65}"/>
              </a:ext>
            </a:extLst>
          </p:cNvPr>
          <p:cNvSpPr>
            <a:spLocks noGrp="1"/>
          </p:cNvSpPr>
          <p:nvPr/>
        </p:nvSpPr>
        <p:spPr>
          <a:xfrm>
            <a:off x="781050" y="1562100"/>
            <a:ext cx="8858250" cy="723900"/>
          </a:xfrm>
          <a:prstGeom prst="roundRect">
            <a:avLst>
              <a:gd name="adj" fmla="val 10526"/>
            </a:avLst>
          </a:prstGeom>
          <a:solidFill>
            <a:srgbClr val="FDFEFF"/>
          </a:solidFill>
          <a:ln w="9525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D703B8A-46E3-4666-8214-BD20439EC444}"/>
              </a:ext>
            </a:extLst>
          </p:cNvPr>
          <p:cNvSpPr>
            <a:spLocks noGrp="1"/>
          </p:cNvSpPr>
          <p:nvPr/>
        </p:nvSpPr>
        <p:spPr>
          <a:xfrm>
            <a:off x="1047750" y="1771650"/>
            <a:ext cx="1619250" cy="304800"/>
          </a:xfrm>
          <a:prstGeom prst="roundRect">
            <a:avLst>
              <a:gd name="adj" fmla="val 25000"/>
            </a:avLst>
          </a:prstGeom>
          <a:solidFill>
            <a:srgbClr val="123B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38100" rIns="95250" bIns="3810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400" b="1" dirty="0">
                <a:solidFill>
                  <a:srgbClr val="FFFFFF"/>
                </a:solidFill>
              </a:rPr>
              <a:t>Func</a:t>
            </a:r>
            <a:r>
              <a:rPr lang="ro-RO" sz="1400" b="1" dirty="0">
                <a:solidFill>
                  <a:srgbClr val="FFFFFF"/>
                </a:solidFill>
              </a:rPr>
              <a:t>ț</a:t>
            </a:r>
            <a:r>
              <a:rPr sz="1400" b="1" dirty="0" err="1">
                <a:solidFill>
                  <a:srgbClr val="FFFFFF"/>
                </a:solidFill>
              </a:rPr>
              <a:t>ional</a:t>
            </a:r>
            <a:endParaRPr sz="1050" b="1" dirty="0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94C1E8-4C46-4F76-A50B-C8E247E91855}"/>
              </a:ext>
            </a:extLst>
          </p:cNvPr>
          <p:cNvSpPr>
            <a:spLocks noGrp="1"/>
          </p:cNvSpPr>
          <p:nvPr/>
        </p:nvSpPr>
        <p:spPr>
          <a:xfrm>
            <a:off x="3048000" y="1790700"/>
            <a:ext cx="590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lang="en-AU" sz="1650" dirty="0" err="1"/>
              <a:t>Pornire</a:t>
            </a:r>
            <a:r>
              <a:rPr lang="en-AU" sz="1650" dirty="0"/>
              <a:t>, mi</a:t>
            </a:r>
            <a:r>
              <a:rPr lang="ro-RO" sz="1650" dirty="0"/>
              <a:t>ș</a:t>
            </a:r>
            <a:r>
              <a:rPr lang="en-AU" sz="1650" dirty="0"/>
              <a:t>care, s</a:t>
            </a:r>
            <a:r>
              <a:rPr lang="ro-RO" sz="1650" dirty="0"/>
              <a:t>ă</a:t>
            </a:r>
            <a:r>
              <a:rPr lang="en-AU" sz="1650" dirty="0" err="1"/>
              <a:t>ritur</a:t>
            </a:r>
            <a:r>
              <a:rPr lang="ro-RO" sz="1650" dirty="0"/>
              <a:t>ă</a:t>
            </a:r>
            <a:r>
              <a:rPr lang="en-AU" sz="1650" dirty="0"/>
              <a:t> </a:t>
            </a:r>
            <a:r>
              <a:rPr lang="ro-RO" sz="1650" dirty="0"/>
              <a:t>ș</a:t>
            </a:r>
            <a:r>
              <a:rPr lang="en-AU" sz="1650" dirty="0" err="1"/>
              <a:t>i</a:t>
            </a:r>
            <a:r>
              <a:rPr lang="en-AU" sz="1650" dirty="0"/>
              <a:t> </a:t>
            </a:r>
            <a:r>
              <a:rPr lang="en-AU" sz="1650" dirty="0" err="1"/>
              <a:t>accesarea</a:t>
            </a:r>
            <a:r>
              <a:rPr lang="en-AU" sz="1650" dirty="0"/>
              <a:t> </a:t>
            </a:r>
            <a:r>
              <a:rPr lang="en-AU" sz="1650" dirty="0" err="1"/>
              <a:t>terminalelor</a:t>
            </a:r>
            <a:r>
              <a:rPr lang="en-AU" sz="1650" dirty="0"/>
              <a:t>.</a:t>
            </a:r>
            <a:endParaRPr sz="1650" b="0" dirty="0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7523639-2389-46D1-A042-07AE6CECBE70}"/>
              </a:ext>
            </a:extLst>
          </p:cNvPr>
          <p:cNvSpPr>
            <a:spLocks noGrp="1"/>
          </p:cNvSpPr>
          <p:nvPr/>
        </p:nvSpPr>
        <p:spPr>
          <a:xfrm>
            <a:off x="781050" y="2552700"/>
            <a:ext cx="885825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F878E55-597B-43CD-9356-8FB973DF92D1}"/>
              </a:ext>
            </a:extLst>
          </p:cNvPr>
          <p:cNvSpPr>
            <a:spLocks noGrp="1"/>
          </p:cNvSpPr>
          <p:nvPr/>
        </p:nvSpPr>
        <p:spPr>
          <a:xfrm>
            <a:off x="1047750" y="2762250"/>
            <a:ext cx="1619250" cy="304800"/>
          </a:xfrm>
          <a:prstGeom prst="roundRect">
            <a:avLst>
              <a:gd name="adj" fmla="val 25000"/>
            </a:avLst>
          </a:prstGeom>
          <a:solidFill>
            <a:srgbClr val="F28B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38100" rIns="95250" bIns="3810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400" b="1" dirty="0" err="1">
                <a:solidFill>
                  <a:srgbClr val="FFFFFF"/>
                </a:solidFill>
              </a:rPr>
              <a:t>Niveluri</a:t>
            </a:r>
            <a:endParaRPr sz="1050" b="1" dirty="0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6009F4-DE5A-4568-9B04-7C236C18A8A9}"/>
              </a:ext>
            </a:extLst>
          </p:cNvPr>
          <p:cNvSpPr>
            <a:spLocks noGrp="1"/>
          </p:cNvSpPr>
          <p:nvPr/>
        </p:nvSpPr>
        <p:spPr>
          <a:xfrm>
            <a:off x="3048000" y="2781300"/>
            <a:ext cx="590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lang="en-AU" sz="1650" dirty="0" err="1"/>
              <a:t>Validarea</a:t>
            </a:r>
            <a:r>
              <a:rPr lang="en-AU" sz="1650" dirty="0"/>
              <a:t> </a:t>
            </a:r>
            <a:r>
              <a:rPr lang="en-AU" sz="1650" dirty="0" err="1"/>
              <a:t>solu</a:t>
            </a:r>
            <a:r>
              <a:rPr lang="ro-RO" sz="1650" dirty="0"/>
              <a:t>ți</a:t>
            </a:r>
            <a:r>
              <a:rPr lang="en-AU" sz="1650" dirty="0" err="1"/>
              <a:t>ilor</a:t>
            </a:r>
            <a:r>
              <a:rPr lang="en-AU" sz="1650" dirty="0"/>
              <a:t> </a:t>
            </a:r>
            <a:r>
              <a:rPr lang="en-AU" sz="1650" dirty="0" err="1"/>
              <a:t>pentru</a:t>
            </a:r>
            <a:r>
              <a:rPr lang="en-AU" sz="1650" dirty="0"/>
              <a:t> </a:t>
            </a:r>
            <a:r>
              <a:rPr lang="en-AU" sz="1650" dirty="0" err="1"/>
              <a:t>cele</a:t>
            </a:r>
            <a:r>
              <a:rPr lang="en-AU" sz="1650" dirty="0"/>
              <a:t> </a:t>
            </a:r>
            <a:r>
              <a:rPr lang="en-AU" sz="1650" dirty="0" err="1"/>
              <a:t>cinci</a:t>
            </a:r>
            <a:r>
              <a:rPr lang="en-AU" sz="1650" dirty="0"/>
              <a:t> puzzle-</a:t>
            </a:r>
            <a:r>
              <a:rPr lang="en-AU" sz="1650" dirty="0" err="1"/>
              <a:t>uri</a:t>
            </a:r>
            <a:r>
              <a:rPr lang="en-AU" sz="1650" dirty="0"/>
              <a:t>.</a:t>
            </a:r>
            <a:endParaRPr sz="1650" b="0" dirty="0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5C716E8-96BF-4883-9EDE-6056F44534E7}"/>
              </a:ext>
            </a:extLst>
          </p:cNvPr>
          <p:cNvSpPr>
            <a:spLocks noGrp="1"/>
          </p:cNvSpPr>
          <p:nvPr/>
        </p:nvSpPr>
        <p:spPr>
          <a:xfrm>
            <a:off x="781050" y="3543300"/>
            <a:ext cx="8858250" cy="723900"/>
          </a:xfrm>
          <a:prstGeom prst="roundRect">
            <a:avLst>
              <a:gd name="adj" fmla="val 10526"/>
            </a:avLst>
          </a:prstGeom>
          <a:solidFill>
            <a:srgbClr val="FDFEFF"/>
          </a:solidFill>
          <a:ln w="9525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62667D5-8613-4E9C-ADD4-91B6B416EFB8}"/>
              </a:ext>
            </a:extLst>
          </p:cNvPr>
          <p:cNvSpPr>
            <a:spLocks noGrp="1"/>
          </p:cNvSpPr>
          <p:nvPr/>
        </p:nvSpPr>
        <p:spPr>
          <a:xfrm>
            <a:off x="1047750" y="3752850"/>
            <a:ext cx="1619250" cy="304800"/>
          </a:xfrm>
          <a:prstGeom prst="roundRect">
            <a:avLst>
              <a:gd name="adj" fmla="val 25000"/>
            </a:avLst>
          </a:prstGeom>
          <a:solidFill>
            <a:srgbClr val="123B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38100" rIns="95250" bIns="3810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400" b="1" dirty="0" err="1">
                <a:solidFill>
                  <a:srgbClr val="FFFFFF"/>
                </a:solidFill>
              </a:rPr>
              <a:t>Cazuri</a:t>
            </a:r>
            <a:r>
              <a:rPr sz="1050" b="1" dirty="0">
                <a:solidFill>
                  <a:srgbClr val="FFFFFF"/>
                </a:solidFill>
              </a:rPr>
              <a:t> </a:t>
            </a:r>
            <a:r>
              <a:rPr sz="1400" b="1" dirty="0">
                <a:solidFill>
                  <a:srgbClr val="FFFFFF"/>
                </a:solidFill>
              </a:rPr>
              <a:t>limit</a:t>
            </a:r>
            <a:r>
              <a:rPr lang="ro-RO" sz="1400" b="1" dirty="0">
                <a:solidFill>
                  <a:srgbClr val="FFFFFF"/>
                </a:solidFill>
              </a:rPr>
              <a:t>ă</a:t>
            </a:r>
            <a:endParaRPr sz="1050" b="1" dirty="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496024-1EBA-42BE-89CF-8E16AC41C93E}"/>
              </a:ext>
            </a:extLst>
          </p:cNvPr>
          <p:cNvSpPr>
            <a:spLocks noGrp="1"/>
          </p:cNvSpPr>
          <p:nvPr/>
        </p:nvSpPr>
        <p:spPr>
          <a:xfrm>
            <a:off x="3048000" y="3771900"/>
            <a:ext cx="590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lang="en-AU" sz="1650" dirty="0" err="1"/>
              <a:t>Verificarea</a:t>
            </a:r>
            <a:r>
              <a:rPr lang="en-AU" sz="1650" dirty="0"/>
              <a:t> </a:t>
            </a:r>
            <a:r>
              <a:rPr lang="en-AU" sz="1650" dirty="0" err="1"/>
              <a:t>interac</a:t>
            </a:r>
            <a:r>
              <a:rPr lang="ro-RO" sz="1650" dirty="0"/>
              <a:t>ț</a:t>
            </a:r>
            <a:r>
              <a:rPr lang="en-AU" sz="1650" dirty="0" err="1"/>
              <a:t>iunii</a:t>
            </a:r>
            <a:r>
              <a:rPr lang="en-AU" sz="1650" dirty="0"/>
              <a:t> cu </a:t>
            </a:r>
            <a:r>
              <a:rPr lang="en-AU" sz="1650" dirty="0" err="1"/>
              <a:t>obiecte</a:t>
            </a:r>
            <a:r>
              <a:rPr lang="en-AU" sz="1650" dirty="0"/>
              <a:t>, </a:t>
            </a:r>
            <a:r>
              <a:rPr lang="en-AU" sz="1650" dirty="0" err="1"/>
              <a:t>lifturi</a:t>
            </a:r>
            <a:r>
              <a:rPr lang="en-AU" sz="1650" dirty="0"/>
              <a:t>, </a:t>
            </a:r>
            <a:r>
              <a:rPr lang="en-AU" sz="1650" dirty="0" err="1"/>
              <a:t>containere</a:t>
            </a:r>
            <a:r>
              <a:rPr lang="en-AU" sz="1650" dirty="0"/>
              <a:t> </a:t>
            </a:r>
            <a:r>
              <a:rPr lang="en-AU" sz="1650" dirty="0" err="1"/>
              <a:t>si</a:t>
            </a:r>
            <a:r>
              <a:rPr lang="en-AU" sz="1650" dirty="0"/>
              <a:t> </a:t>
            </a:r>
            <a:r>
              <a:rPr lang="en-AU" sz="1650" dirty="0" err="1"/>
              <a:t>resetari</a:t>
            </a:r>
            <a:r>
              <a:rPr lang="en-AU" sz="1650" dirty="0"/>
              <a:t>.</a:t>
            </a:r>
            <a:endParaRPr sz="1650" b="0" dirty="0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889920B-6056-439E-85B2-99AF12A3BB0D}"/>
              </a:ext>
            </a:extLst>
          </p:cNvPr>
          <p:cNvSpPr>
            <a:spLocks noGrp="1"/>
          </p:cNvSpPr>
          <p:nvPr/>
        </p:nvSpPr>
        <p:spPr>
          <a:xfrm>
            <a:off x="781050" y="4533900"/>
            <a:ext cx="885825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4E1F42D-DA13-497C-9732-93828B19763A}"/>
              </a:ext>
            </a:extLst>
          </p:cNvPr>
          <p:cNvSpPr>
            <a:spLocks noGrp="1"/>
          </p:cNvSpPr>
          <p:nvPr/>
        </p:nvSpPr>
        <p:spPr>
          <a:xfrm>
            <a:off x="1047750" y="4743450"/>
            <a:ext cx="1619250" cy="304800"/>
          </a:xfrm>
          <a:prstGeom prst="roundRect">
            <a:avLst>
              <a:gd name="adj" fmla="val 25000"/>
            </a:avLst>
          </a:prstGeom>
          <a:solidFill>
            <a:srgbClr val="F28B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38100" rIns="95250" bIns="3810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lang="en-AU" sz="1400" b="1" dirty="0" err="1">
                <a:solidFill>
                  <a:srgbClr val="FFFFFF"/>
                </a:solidFill>
              </a:rPr>
              <a:t>Experiență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9BFC1D1-EABC-4A7C-B216-B263E791964A}"/>
              </a:ext>
            </a:extLst>
          </p:cNvPr>
          <p:cNvSpPr>
            <a:spLocks noGrp="1"/>
          </p:cNvSpPr>
          <p:nvPr/>
        </p:nvSpPr>
        <p:spPr>
          <a:xfrm>
            <a:off x="3048000" y="4762500"/>
            <a:ext cx="590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lang="en-AU" sz="1650" dirty="0" err="1"/>
              <a:t>Claritatea</a:t>
            </a:r>
            <a:r>
              <a:rPr lang="en-AU" sz="1650" dirty="0"/>
              <a:t> </a:t>
            </a:r>
            <a:r>
              <a:rPr lang="en-AU" sz="1650" dirty="0" err="1"/>
              <a:t>obiectivelor</a:t>
            </a:r>
            <a:r>
              <a:rPr lang="en-AU" sz="1650" dirty="0"/>
              <a:t> </a:t>
            </a:r>
            <a:r>
              <a:rPr lang="en-AU" sz="1650" dirty="0" err="1"/>
              <a:t>și</a:t>
            </a:r>
            <a:r>
              <a:rPr lang="en-AU" sz="1650" dirty="0"/>
              <a:t> a feedback-</a:t>
            </a:r>
            <a:r>
              <a:rPr lang="en-AU" sz="1650" dirty="0" err="1"/>
              <a:t>ului</a:t>
            </a:r>
            <a:r>
              <a:rPr lang="en-AU" sz="1650" dirty="0"/>
              <a:t> </a:t>
            </a:r>
            <a:r>
              <a:rPr lang="en-AU" sz="1650" dirty="0" err="1"/>
              <a:t>oferit</a:t>
            </a:r>
            <a:r>
              <a:rPr lang="en-AU" sz="1650" dirty="0"/>
              <a:t> </a:t>
            </a:r>
            <a:r>
              <a:rPr lang="en-AU" sz="1650" dirty="0" err="1"/>
              <a:t>utilizatorului</a:t>
            </a:r>
            <a:r>
              <a:rPr lang="en-AU" sz="1650" dirty="0"/>
              <a:t>.</a:t>
            </a:r>
            <a:endParaRPr sz="1650" b="0" dirty="0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F3F46D-5481-4C69-88DA-DFBB4209C429}"/>
              </a:ext>
            </a:extLst>
          </p:cNvPr>
          <p:cNvSpPr>
            <a:spLocks noGrp="1"/>
          </p:cNvSpPr>
          <p:nvPr/>
        </p:nvSpPr>
        <p:spPr>
          <a:xfrm>
            <a:off x="1047750" y="5572125"/>
            <a:ext cx="8477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lang="en-AU" sz="1425" b="1" dirty="0" err="1"/>
              <a:t>Testarea</a:t>
            </a:r>
            <a:r>
              <a:rPr lang="en-AU" sz="1425" b="1" dirty="0"/>
              <a:t> a </a:t>
            </a:r>
            <a:r>
              <a:rPr lang="en-AU" sz="1425" b="1" dirty="0" err="1"/>
              <a:t>confirmat</a:t>
            </a:r>
            <a:r>
              <a:rPr lang="en-AU" sz="1425" b="1" dirty="0"/>
              <a:t> </a:t>
            </a:r>
            <a:r>
              <a:rPr lang="en-AU" sz="1425" b="1" dirty="0" err="1"/>
              <a:t>funcționarea</a:t>
            </a:r>
            <a:r>
              <a:rPr lang="en-AU" sz="1425" b="1" dirty="0"/>
              <a:t> </a:t>
            </a:r>
            <a:r>
              <a:rPr lang="en-AU" sz="1425" b="1" dirty="0" err="1"/>
              <a:t>așteptată</a:t>
            </a:r>
            <a:r>
              <a:rPr lang="en-AU" sz="1425" b="1" dirty="0"/>
              <a:t> a </a:t>
            </a:r>
            <a:r>
              <a:rPr lang="en-AU" sz="1425" b="1" dirty="0" err="1"/>
              <a:t>aplicației</a:t>
            </a:r>
            <a:r>
              <a:rPr lang="en-AU" sz="1425" b="1" dirty="0"/>
              <a:t>, </a:t>
            </a:r>
            <a:r>
              <a:rPr lang="en-AU" sz="1425" b="1" dirty="0" err="1"/>
              <a:t>iar</a:t>
            </a:r>
            <a:r>
              <a:rPr lang="en-AU" sz="1425" b="1" dirty="0"/>
              <a:t> </a:t>
            </a:r>
            <a:r>
              <a:rPr lang="en-AU" sz="1425" b="1" dirty="0" err="1"/>
              <a:t>problemele</a:t>
            </a:r>
            <a:r>
              <a:rPr lang="en-AU" sz="1425" b="1" dirty="0"/>
              <a:t> </a:t>
            </a:r>
            <a:r>
              <a:rPr lang="en-AU" sz="1425" b="1" dirty="0" err="1"/>
              <a:t>identificate</a:t>
            </a:r>
            <a:r>
              <a:rPr lang="en-AU" sz="1425" b="1" dirty="0"/>
              <a:t> au </a:t>
            </a:r>
            <a:r>
              <a:rPr lang="en-AU" sz="1425" b="1" dirty="0" err="1"/>
              <a:t>fost</a:t>
            </a:r>
            <a:r>
              <a:rPr lang="en-AU" sz="1425" b="1" dirty="0"/>
              <a:t> </a:t>
            </a:r>
            <a:r>
              <a:rPr lang="en-AU" sz="1425" b="1" dirty="0" err="1"/>
              <a:t>corectate</a:t>
            </a:r>
            <a:r>
              <a:rPr lang="en-AU" sz="1425" b="1" dirty="0"/>
              <a:t> </a:t>
            </a:r>
            <a:r>
              <a:rPr lang="en-AU" sz="1425" b="1" dirty="0" err="1"/>
              <a:t>prin</a:t>
            </a:r>
            <a:r>
              <a:rPr lang="en-AU" sz="1425" b="1" dirty="0"/>
              <a:t> reguli </a:t>
            </a:r>
            <a:r>
              <a:rPr lang="en-AU" sz="1425" b="1" dirty="0" err="1"/>
              <a:t>suplimentare</a:t>
            </a:r>
            <a:r>
              <a:rPr lang="en-AU" sz="1425" b="1" dirty="0"/>
              <a:t> de control.</a:t>
            </a:r>
            <a:endParaRPr sz="1425" b="1" dirty="0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793497-82A4-48BC-8D1F-498A71B3E586}"/>
              </a:ext>
            </a:extLst>
          </p:cNvPr>
          <p:cNvSpPr>
            <a:spLocks noGrp="1"/>
          </p:cNvSpPr>
          <p:nvPr/>
        </p:nvSpPr>
        <p:spPr>
          <a:xfrm>
            <a:off x="10572750" y="6400800"/>
            <a:ext cx="819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10/11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4E0DBC7-EF86-A4C9-1B8A-165661DB80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23950"/>
          </a:xfrm>
          <a:prstGeom prst="rect">
            <a:avLst/>
          </a:prstGeom>
          <a:solidFill>
            <a:srgbClr val="123B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A74BD34-6161-E717-D39F-0CA4B98A9D4F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B15F"/>
                </a:solidFill>
                <a:latin typeface="Aptos"/>
                <a:ea typeface="Aptos"/>
                <a:cs typeface="Aptos"/>
              </a:defRPr>
            </a:pPr>
            <a:r>
              <a:rPr sz="975" b="1" dirty="0">
                <a:solidFill>
                  <a:srgbClr val="FFB15F"/>
                </a:solidFill>
                <a:latin typeface="Aptos"/>
                <a:ea typeface="Aptos"/>
                <a:cs typeface="Aptos"/>
              </a:rPr>
              <a:t>CODESCAPE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1AB0659-7CBD-55B1-6BFD-715B3EF7B07E}"/>
              </a:ext>
            </a:extLst>
          </p:cNvPr>
          <p:cNvSpPr>
            <a:spLocks noGrp="1"/>
          </p:cNvSpPr>
          <p:nvPr/>
        </p:nvSpPr>
        <p:spPr>
          <a:xfrm>
            <a:off x="0" y="1123950"/>
            <a:ext cx="12192000" cy="76200"/>
          </a:xfrm>
          <a:prstGeom prst="rect">
            <a:avLst/>
          </a:prstGeom>
          <a:solidFill>
            <a:srgbClr val="F28B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2FC658C-372E-0406-8649-5818C850CC9F}"/>
              </a:ext>
            </a:extLst>
          </p:cNvPr>
          <p:cNvSpPr>
            <a:spLocks noGrp="1"/>
          </p:cNvSpPr>
          <p:nvPr/>
        </p:nvSpPr>
        <p:spPr>
          <a:xfrm>
            <a:off x="514350" y="523875"/>
            <a:ext cx="833437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ro-RO" sz="2475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Testare</a:t>
            </a:r>
            <a:endParaRPr sz="2475" b="1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C8A4A03-661A-F758-A73D-ADE81A3B2CA9}"/>
              </a:ext>
            </a:extLst>
          </p:cNvPr>
          <p:cNvSpPr>
            <a:spLocks noGrp="1"/>
          </p:cNvSpPr>
          <p:nvPr/>
        </p:nvSpPr>
        <p:spPr>
          <a:xfrm>
            <a:off x="10477500" y="0"/>
            <a:ext cx="1047750" cy="6858000"/>
          </a:xfrm>
          <a:prstGeom prst="rect">
            <a:avLst/>
          </a:prstGeom>
          <a:solidFill>
            <a:srgbClr val="EAF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0AA4031-9337-6D67-10E4-65AFDE9AE565}"/>
              </a:ext>
            </a:extLst>
          </p:cNvPr>
          <p:cNvSpPr>
            <a:spLocks noGrp="1"/>
          </p:cNvSpPr>
          <p:nvPr/>
        </p:nvSpPr>
        <p:spPr>
          <a:xfrm>
            <a:off x="10610850" y="0"/>
            <a:ext cx="47625" cy="6858000"/>
          </a:xfrm>
          <a:prstGeom prst="rect">
            <a:avLst/>
          </a:prstGeom>
          <a:solidFill>
            <a:srgbClr val="3EA7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F071C49-8186-F600-17B5-A6F30F2D2002}"/>
              </a:ext>
            </a:extLst>
          </p:cNvPr>
          <p:cNvSpPr>
            <a:spLocks noGrp="1"/>
          </p:cNvSpPr>
          <p:nvPr/>
        </p:nvSpPr>
        <p:spPr>
          <a:xfrm>
            <a:off x="10896600" y="0"/>
            <a:ext cx="47625" cy="6858000"/>
          </a:xfrm>
          <a:prstGeom prst="rect">
            <a:avLst/>
          </a:prstGeom>
          <a:solidFill>
            <a:srgbClr val="FFB1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8F1CC29-663B-76D6-B5EC-01F9BFE06BBC}"/>
              </a:ext>
            </a:extLst>
          </p:cNvPr>
          <p:cNvSpPr>
            <a:spLocks noGrp="1"/>
          </p:cNvSpPr>
          <p:nvPr/>
        </p:nvSpPr>
        <p:spPr>
          <a:xfrm>
            <a:off x="9972675" y="6162675"/>
            <a:ext cx="1847850" cy="28575"/>
          </a:xfrm>
          <a:prstGeom prst="rect">
            <a:avLst/>
          </a:prstGeom>
          <a:solidFill>
            <a:srgbClr val="3EA7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8" name="orange bottom line">
            <a:extLst>
              <a:ext uri="{FF2B5EF4-FFF2-40B4-BE49-F238E27FC236}">
                <a16:creationId xmlns:a16="http://schemas.microsoft.com/office/drawing/2014/main" id="{949B5F9E-87B9-214B-25A5-E7CEBAE568FF}"/>
              </a:ext>
            </a:extLst>
          </p:cNvPr>
          <p:cNvSpPr/>
          <p:nvPr/>
        </p:nvSpPr>
        <p:spPr>
          <a:xfrm>
            <a:off x="9825037" y="5955583"/>
            <a:ext cx="2190750" cy="28575"/>
          </a:xfrm>
          <a:prstGeom prst="rect">
            <a:avLst/>
          </a:prstGeom>
          <a:solidFill>
            <a:srgbClr val="FFB1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3A483BDE-232F-BD68-BED6-608905AA3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744161" y="123372"/>
            <a:ext cx="2290523" cy="78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569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0AAD0-D276-B385-AB14-13CB1DF33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3214CB59-A624-4D81-0D52-7C5864BA3D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E92678-061E-6C9A-32D9-7C369411BF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23950"/>
          </a:xfrm>
          <a:prstGeom prst="rect">
            <a:avLst/>
          </a:prstGeom>
          <a:solidFill>
            <a:srgbClr val="123B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B9F074-B7AD-56AF-3B93-A6483509D567}"/>
              </a:ext>
            </a:extLst>
          </p:cNvPr>
          <p:cNvSpPr>
            <a:spLocks noGrp="1"/>
          </p:cNvSpPr>
          <p:nvPr/>
        </p:nvSpPr>
        <p:spPr>
          <a:xfrm>
            <a:off x="0" y="1123950"/>
            <a:ext cx="12192000" cy="76200"/>
          </a:xfrm>
          <a:prstGeom prst="rect">
            <a:avLst/>
          </a:prstGeom>
          <a:solidFill>
            <a:srgbClr val="F28B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802E00-5B69-0FAB-1227-072F6F8D6112}"/>
              </a:ext>
            </a:extLst>
          </p:cNvPr>
          <p:cNvSpPr>
            <a:spLocks noGrp="1"/>
          </p:cNvSpPr>
          <p:nvPr/>
        </p:nvSpPr>
        <p:spPr>
          <a:xfrm>
            <a:off x="10477500" y="0"/>
            <a:ext cx="1047750" cy="6858000"/>
          </a:xfrm>
          <a:prstGeom prst="rect">
            <a:avLst/>
          </a:prstGeom>
          <a:solidFill>
            <a:srgbClr val="EAF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88F07B-E886-84FD-E0F0-B019AFE8D5BB}"/>
              </a:ext>
            </a:extLst>
          </p:cNvPr>
          <p:cNvSpPr>
            <a:spLocks noGrp="1"/>
          </p:cNvSpPr>
          <p:nvPr/>
        </p:nvSpPr>
        <p:spPr>
          <a:xfrm>
            <a:off x="10610850" y="0"/>
            <a:ext cx="47625" cy="6858000"/>
          </a:xfrm>
          <a:prstGeom prst="rect">
            <a:avLst/>
          </a:prstGeom>
          <a:solidFill>
            <a:srgbClr val="3EA7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8DA0BF-58C1-DAE7-9520-47A972F6AADF}"/>
              </a:ext>
            </a:extLst>
          </p:cNvPr>
          <p:cNvSpPr>
            <a:spLocks noGrp="1"/>
          </p:cNvSpPr>
          <p:nvPr/>
        </p:nvSpPr>
        <p:spPr>
          <a:xfrm>
            <a:off x="10896600" y="0"/>
            <a:ext cx="47625" cy="6858000"/>
          </a:xfrm>
          <a:prstGeom prst="rect">
            <a:avLst/>
          </a:prstGeom>
          <a:solidFill>
            <a:srgbClr val="FFB1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57231D-1B3F-5027-F288-51CC1105F930}"/>
              </a:ext>
            </a:extLst>
          </p:cNvPr>
          <p:cNvSpPr>
            <a:spLocks noGrp="1"/>
          </p:cNvSpPr>
          <p:nvPr/>
        </p:nvSpPr>
        <p:spPr>
          <a:xfrm>
            <a:off x="9734550" y="5962650"/>
            <a:ext cx="2190750" cy="28575"/>
          </a:xfrm>
          <a:prstGeom prst="rect">
            <a:avLst/>
          </a:prstGeom>
          <a:solidFill>
            <a:srgbClr val="FFB1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647A69-4FE0-E321-5E33-04AB8323BDA4}"/>
              </a:ext>
            </a:extLst>
          </p:cNvPr>
          <p:cNvSpPr>
            <a:spLocks noGrp="1"/>
          </p:cNvSpPr>
          <p:nvPr/>
        </p:nvSpPr>
        <p:spPr>
          <a:xfrm>
            <a:off x="10020300" y="6191250"/>
            <a:ext cx="1847850" cy="28575"/>
          </a:xfrm>
          <a:prstGeom prst="rect">
            <a:avLst/>
          </a:prstGeom>
          <a:solidFill>
            <a:srgbClr val="3EA7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A8714A-0605-8EB7-9268-EDFC76A0CEEE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B1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B15F"/>
                </a:solidFill>
                <a:latin typeface="Aptos"/>
                <a:ea typeface="Aptos"/>
                <a:cs typeface="Aptos"/>
              </a:rPr>
              <a:t>CODESCAPE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0CCE0D-BB10-4794-16ED-1B44F7E0DD7B}"/>
              </a:ext>
            </a:extLst>
          </p:cNvPr>
          <p:cNvSpPr>
            <a:spLocks noGrp="1"/>
          </p:cNvSpPr>
          <p:nvPr/>
        </p:nvSpPr>
        <p:spPr>
          <a:xfrm>
            <a:off x="514350" y="523875"/>
            <a:ext cx="833437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ro-RO" sz="2475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Contribuții personale</a:t>
            </a:r>
            <a:endParaRPr sz="2475" b="1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DE69F7-ED69-8653-14F6-64E1668D2FD6}"/>
              </a:ext>
            </a:extLst>
          </p:cNvPr>
          <p:cNvSpPr>
            <a:spLocks noGrp="1"/>
          </p:cNvSpPr>
          <p:nvPr/>
        </p:nvSpPr>
        <p:spPr>
          <a:xfrm>
            <a:off x="10572750" y="6419850"/>
            <a:ext cx="819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41607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16071"/>
                </a:solidFill>
                <a:latin typeface="Aptos"/>
                <a:ea typeface="Aptos"/>
                <a:cs typeface="Aptos"/>
              </a:rPr>
              <a:t>12/12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A86D1BA-EB77-2BB0-843E-BB97E66229B7}"/>
              </a:ext>
            </a:extLst>
          </p:cNvPr>
          <p:cNvSpPr>
            <a:spLocks noGrp="1"/>
          </p:cNvSpPr>
          <p:nvPr/>
        </p:nvSpPr>
        <p:spPr>
          <a:xfrm>
            <a:off x="686982" y="2012116"/>
            <a:ext cx="2485410" cy="1960307"/>
          </a:xfrm>
          <a:prstGeom prst="roundRect">
            <a:avLst>
              <a:gd name="adj" fmla="val 10247"/>
            </a:avLst>
          </a:prstGeom>
          <a:solidFill>
            <a:srgbClr val="FFFFFF">
              <a:alpha val="90980"/>
            </a:srgbClr>
          </a:solidFill>
          <a:ln w="19050">
            <a:solidFill>
              <a:srgbClr val="9FD0EC"/>
            </a:solidFill>
            <a:prstDash val="solid"/>
          </a:ln>
        </p:spPr>
        <p:txBody>
          <a:bodyPr/>
          <a:lstStyle/>
          <a:p>
            <a:endParaRPr lang="en-AU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F6BFC72-F44D-8753-0AD3-F7170171EA38}"/>
              </a:ext>
            </a:extLst>
          </p:cNvPr>
          <p:cNvSpPr>
            <a:spLocks noGrp="1"/>
          </p:cNvSpPr>
          <p:nvPr/>
        </p:nvSpPr>
        <p:spPr>
          <a:xfrm>
            <a:off x="824825" y="2615304"/>
            <a:ext cx="2190058" cy="146923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SzPct val="100000"/>
            </a:pPr>
            <a:r>
              <a:rPr lang="en-AU" sz="1600" dirty="0" err="1">
                <a:latin typeface="Aptos SemiBold" panose="020B0004020202020204" pitchFamily="34" charset="0"/>
              </a:rPr>
              <a:t>Proiectarea</a:t>
            </a:r>
            <a:r>
              <a:rPr lang="en-AU" sz="1600" dirty="0">
                <a:latin typeface="Aptos SemiBold" panose="020B0004020202020204" pitchFamily="34" charset="0"/>
              </a:rPr>
              <a:t> </a:t>
            </a:r>
            <a:r>
              <a:rPr lang="en-AU" sz="1600" dirty="0" err="1">
                <a:latin typeface="Aptos SemiBold" panose="020B0004020202020204" pitchFamily="34" charset="0"/>
              </a:rPr>
              <a:t>ideii</a:t>
            </a:r>
            <a:r>
              <a:rPr lang="en-AU" sz="1600" dirty="0">
                <a:latin typeface="Aptos SemiBold" panose="020B0004020202020204" pitchFamily="34" charset="0"/>
              </a:rPr>
              <a:t> generale a </a:t>
            </a:r>
            <a:r>
              <a:rPr lang="en-AU" sz="1600" dirty="0" err="1">
                <a:latin typeface="Aptos SemiBold" panose="020B0004020202020204" pitchFamily="34" charset="0"/>
              </a:rPr>
              <a:t>jocului</a:t>
            </a:r>
            <a:r>
              <a:rPr lang="en-AU" sz="1600" dirty="0">
                <a:latin typeface="Aptos SemiBold" panose="020B0004020202020204" pitchFamily="34" charset="0"/>
              </a:rPr>
              <a:t> </a:t>
            </a:r>
            <a:r>
              <a:rPr lang="en-AU" sz="1600" dirty="0" err="1">
                <a:latin typeface="Aptos SemiBold" panose="020B0004020202020204" pitchFamily="34" charset="0"/>
              </a:rPr>
              <a:t>și</a:t>
            </a:r>
            <a:r>
              <a:rPr lang="en-AU" sz="1600" dirty="0">
                <a:latin typeface="Aptos SemiBold" panose="020B0004020202020204" pitchFamily="34" charset="0"/>
              </a:rPr>
              <a:t> a </a:t>
            </a:r>
            <a:r>
              <a:rPr lang="en-AU" sz="1600" dirty="0" err="1">
                <a:latin typeface="Aptos SemiBold" panose="020B0004020202020204" pitchFamily="34" charset="0"/>
              </a:rPr>
              <a:t>progresului</a:t>
            </a:r>
            <a:r>
              <a:rPr lang="en-AU" sz="1600" dirty="0">
                <a:latin typeface="Aptos SemiBold" panose="020B0004020202020204" pitchFamily="34" charset="0"/>
              </a:rPr>
              <a:t> pe </a:t>
            </a:r>
            <a:r>
              <a:rPr lang="en-AU" sz="1600" dirty="0" err="1">
                <a:latin typeface="Aptos SemiBold" panose="020B0004020202020204" pitchFamily="34" charset="0"/>
              </a:rPr>
              <a:t>niveluri</a:t>
            </a:r>
            <a:r>
              <a:rPr lang="en-AU" sz="1600" dirty="0">
                <a:latin typeface="Aptos SemiBold" panose="020B0004020202020204" pitchFamily="34" charset="0"/>
              </a:rPr>
              <a:t>.</a:t>
            </a:r>
            <a:endParaRPr sz="1600" dirty="0">
              <a:solidFill>
                <a:srgbClr val="123B68"/>
              </a:solidFill>
              <a:latin typeface="Aptos SemiBold" panose="020B0004020202020204" pitchFamily="34" charset="0"/>
              <a:ea typeface="Aptos"/>
              <a:cs typeface="Aptos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02D301F-760C-54F7-7383-B8B278386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744161" y="123372"/>
            <a:ext cx="2290523" cy="783072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20B9F18-EA61-A081-6D62-3B8528A8023C}"/>
              </a:ext>
            </a:extLst>
          </p:cNvPr>
          <p:cNvSpPr>
            <a:spLocks noGrp="1"/>
          </p:cNvSpPr>
          <p:nvPr/>
        </p:nvSpPr>
        <p:spPr>
          <a:xfrm>
            <a:off x="862119" y="1754787"/>
            <a:ext cx="2115471" cy="514657"/>
          </a:xfrm>
          <a:prstGeom prst="roundRect">
            <a:avLst>
              <a:gd name="adj" fmla="val 25000"/>
            </a:avLst>
          </a:prstGeom>
          <a:solidFill>
            <a:srgbClr val="F28B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38100" rIns="95250" bIns="38100" anchor="ctr"/>
          <a:lstStyle/>
          <a:p>
            <a:pPr algn="ctr"/>
            <a:r>
              <a:rPr lang="en-AU" sz="1600" b="1" dirty="0">
                <a:solidFill>
                  <a:schemeClr val="bg1"/>
                </a:solidFill>
              </a:rPr>
              <a:t>Concept &amp; progres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11F8F84-8A24-E6CE-B521-5369887D4FC3}"/>
              </a:ext>
            </a:extLst>
          </p:cNvPr>
          <p:cNvSpPr>
            <a:spLocks noGrp="1"/>
          </p:cNvSpPr>
          <p:nvPr/>
        </p:nvSpPr>
        <p:spPr>
          <a:xfrm>
            <a:off x="4943657" y="1996982"/>
            <a:ext cx="2485410" cy="1960307"/>
          </a:xfrm>
          <a:prstGeom prst="roundRect">
            <a:avLst>
              <a:gd name="adj" fmla="val 10247"/>
            </a:avLst>
          </a:prstGeom>
          <a:solidFill>
            <a:srgbClr val="FFFFFF">
              <a:alpha val="90980"/>
            </a:srgbClr>
          </a:solidFill>
          <a:ln w="19050">
            <a:solidFill>
              <a:srgbClr val="9FD0EC"/>
            </a:solidFill>
            <a:prstDash val="solid"/>
          </a:ln>
        </p:spPr>
        <p:txBody>
          <a:bodyPr/>
          <a:lstStyle/>
          <a:p>
            <a:endParaRPr lang="en-AU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3B550FE-0843-1668-12B1-5101C0CDCB03}"/>
              </a:ext>
            </a:extLst>
          </p:cNvPr>
          <p:cNvSpPr>
            <a:spLocks noGrp="1"/>
          </p:cNvSpPr>
          <p:nvPr/>
        </p:nvSpPr>
        <p:spPr>
          <a:xfrm>
            <a:off x="5118794" y="1739653"/>
            <a:ext cx="2115471" cy="514657"/>
          </a:xfrm>
          <a:prstGeom prst="roundRect">
            <a:avLst>
              <a:gd name="adj" fmla="val 25000"/>
            </a:avLst>
          </a:prstGeom>
          <a:solidFill>
            <a:srgbClr val="F28B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38100" rIns="95250" bIns="38100" anchor="ctr"/>
          <a:lstStyle/>
          <a:p>
            <a:pPr algn="ctr"/>
            <a:r>
              <a:rPr lang="en-AU" sz="1600" b="1" dirty="0">
                <a:solidFill>
                  <a:schemeClr val="bg1"/>
                </a:solidFill>
              </a:rPr>
              <a:t>Puzzle-</a:t>
            </a:r>
            <a:r>
              <a:rPr lang="en-AU" sz="1600" b="1" dirty="0" err="1">
                <a:solidFill>
                  <a:schemeClr val="bg1"/>
                </a:solidFill>
              </a:rPr>
              <a:t>uri</a:t>
            </a:r>
            <a:r>
              <a:rPr lang="en-AU" sz="1600" b="1" dirty="0">
                <a:solidFill>
                  <a:schemeClr val="bg1"/>
                </a:solidFill>
              </a:rPr>
              <a:t> 3D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5362358-2A86-D687-3268-81D8D1C8983B}"/>
              </a:ext>
            </a:extLst>
          </p:cNvPr>
          <p:cNvSpPr>
            <a:spLocks noGrp="1"/>
          </p:cNvSpPr>
          <p:nvPr/>
        </p:nvSpPr>
        <p:spPr>
          <a:xfrm>
            <a:off x="5056970" y="2536485"/>
            <a:ext cx="2327709" cy="146923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SzPct val="100000"/>
            </a:pPr>
            <a:r>
              <a:rPr lang="en-AU" sz="1600" dirty="0" err="1">
                <a:latin typeface="Aptos SemiBold" panose="020B0004020202020204" pitchFamily="34" charset="0"/>
              </a:rPr>
              <a:t>Transformarea</a:t>
            </a:r>
            <a:r>
              <a:rPr lang="en-AU" sz="1600" dirty="0">
                <a:latin typeface="Aptos SemiBold" panose="020B0004020202020204" pitchFamily="34" charset="0"/>
              </a:rPr>
              <a:t> </a:t>
            </a:r>
            <a:r>
              <a:rPr lang="en-AU" sz="1600" dirty="0" err="1">
                <a:latin typeface="Aptos SemiBold" panose="020B0004020202020204" pitchFamily="34" charset="0"/>
              </a:rPr>
              <a:t>conceptelor</a:t>
            </a:r>
            <a:r>
              <a:rPr lang="en-AU" sz="1600" dirty="0">
                <a:latin typeface="Aptos SemiBold" panose="020B0004020202020204" pitchFamily="34" charset="0"/>
              </a:rPr>
              <a:t> de </a:t>
            </a:r>
            <a:r>
              <a:rPr lang="en-AU" sz="1600" dirty="0" err="1">
                <a:latin typeface="Aptos SemiBold" panose="020B0004020202020204" pitchFamily="34" charset="0"/>
              </a:rPr>
              <a:t>programare</a:t>
            </a:r>
            <a:r>
              <a:rPr lang="en-AU" sz="1600" dirty="0">
                <a:latin typeface="Aptos SemiBold" panose="020B0004020202020204" pitchFamily="34" charset="0"/>
              </a:rPr>
              <a:t> </a:t>
            </a:r>
            <a:r>
              <a:rPr lang="en-AU" sz="1600" dirty="0" err="1">
                <a:latin typeface="Aptos SemiBold" panose="020B0004020202020204" pitchFamily="34" charset="0"/>
              </a:rPr>
              <a:t>în</a:t>
            </a:r>
            <a:r>
              <a:rPr lang="en-AU" sz="1600" dirty="0">
                <a:latin typeface="Aptos SemiBold" panose="020B0004020202020204" pitchFamily="34" charset="0"/>
              </a:rPr>
              <a:t> </a:t>
            </a:r>
            <a:r>
              <a:rPr lang="en-AU" sz="1600" dirty="0" err="1">
                <a:latin typeface="Aptos SemiBold" panose="020B0004020202020204" pitchFamily="34" charset="0"/>
              </a:rPr>
              <a:t>provocări</a:t>
            </a:r>
            <a:r>
              <a:rPr lang="en-AU" sz="1600" dirty="0">
                <a:latin typeface="Aptos SemiBold" panose="020B0004020202020204" pitchFamily="34" charset="0"/>
              </a:rPr>
              <a:t> interactive.</a:t>
            </a:r>
            <a:endParaRPr sz="1600" dirty="0">
              <a:solidFill>
                <a:srgbClr val="123B68"/>
              </a:solidFill>
              <a:latin typeface="Aptos SemiBold" panose="020B0004020202020204" pitchFamily="34" charset="0"/>
              <a:ea typeface="Aptos"/>
              <a:cs typeface="Aptos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A41E2AAB-2DC5-29F7-61B5-950744F8CA4C}"/>
              </a:ext>
            </a:extLst>
          </p:cNvPr>
          <p:cNvSpPr>
            <a:spLocks noGrp="1"/>
          </p:cNvSpPr>
          <p:nvPr/>
        </p:nvSpPr>
        <p:spPr>
          <a:xfrm>
            <a:off x="2458247" y="4528081"/>
            <a:ext cx="2485410" cy="1960307"/>
          </a:xfrm>
          <a:prstGeom prst="roundRect">
            <a:avLst>
              <a:gd name="adj" fmla="val 10247"/>
            </a:avLst>
          </a:prstGeom>
          <a:solidFill>
            <a:srgbClr val="FFFFFF">
              <a:alpha val="90980"/>
            </a:srgbClr>
          </a:solidFill>
          <a:ln w="19050">
            <a:solidFill>
              <a:srgbClr val="9FD0EC"/>
            </a:solidFill>
            <a:prstDash val="solid"/>
          </a:ln>
        </p:spPr>
        <p:txBody>
          <a:bodyPr/>
          <a:lstStyle/>
          <a:p>
            <a:endParaRPr lang="en-AU" dirty="0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3D13EF4A-C98B-D788-D420-0063E66B3DBC}"/>
              </a:ext>
            </a:extLst>
          </p:cNvPr>
          <p:cNvSpPr>
            <a:spLocks noGrp="1"/>
          </p:cNvSpPr>
          <p:nvPr/>
        </p:nvSpPr>
        <p:spPr>
          <a:xfrm>
            <a:off x="2633384" y="4270752"/>
            <a:ext cx="2115471" cy="514657"/>
          </a:xfrm>
          <a:prstGeom prst="roundRect">
            <a:avLst>
              <a:gd name="adj" fmla="val 25000"/>
            </a:avLst>
          </a:prstGeom>
          <a:solidFill>
            <a:srgbClr val="0070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38100" rIns="95250" bIns="38100" anchor="ctr"/>
          <a:lstStyle/>
          <a:p>
            <a:pPr algn="ctr"/>
            <a:r>
              <a:rPr lang="en-AU" sz="1600" b="1" dirty="0" err="1">
                <a:solidFill>
                  <a:schemeClr val="bg1"/>
                </a:solidFill>
              </a:rPr>
              <a:t>Mecanici</a:t>
            </a:r>
            <a:r>
              <a:rPr lang="en-AU" sz="1600" b="1" dirty="0">
                <a:solidFill>
                  <a:schemeClr val="bg1"/>
                </a:solidFill>
              </a:rPr>
              <a:t> &amp; </a:t>
            </a:r>
            <a:r>
              <a:rPr lang="en-AU" sz="1600" b="1" dirty="0" err="1">
                <a:solidFill>
                  <a:schemeClr val="bg1"/>
                </a:solidFill>
              </a:rPr>
              <a:t>validare</a:t>
            </a:r>
            <a:endParaRPr lang="en-AU" sz="1600" b="1" dirty="0">
              <a:solidFill>
                <a:schemeClr val="bg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928C5D7-1B52-A8C8-E929-D2FC2325621D}"/>
              </a:ext>
            </a:extLst>
          </p:cNvPr>
          <p:cNvSpPr>
            <a:spLocks noGrp="1"/>
          </p:cNvSpPr>
          <p:nvPr/>
        </p:nvSpPr>
        <p:spPr>
          <a:xfrm>
            <a:off x="2576777" y="5160168"/>
            <a:ext cx="2284310" cy="146923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SzPct val="100000"/>
            </a:pPr>
            <a:r>
              <a:rPr lang="en-AU" sz="1600" dirty="0" err="1">
                <a:latin typeface="Aptos SemiBold" panose="020B0004020202020204" pitchFamily="34" charset="0"/>
              </a:rPr>
              <a:t>Implementarea</a:t>
            </a:r>
            <a:r>
              <a:rPr lang="en-AU" sz="1600" dirty="0">
                <a:latin typeface="Aptos SemiBold" panose="020B0004020202020204" pitchFamily="34" charset="0"/>
              </a:rPr>
              <a:t> </a:t>
            </a:r>
            <a:r>
              <a:rPr lang="en-AU" sz="1600" dirty="0" err="1">
                <a:latin typeface="Aptos SemiBold" panose="020B0004020202020204" pitchFamily="34" charset="0"/>
              </a:rPr>
              <a:t>interacțiunilor</a:t>
            </a:r>
            <a:r>
              <a:rPr lang="en-AU" sz="1600" dirty="0">
                <a:latin typeface="Aptos SemiBold" panose="020B0004020202020204" pitchFamily="34" charset="0"/>
              </a:rPr>
              <a:t> </a:t>
            </a:r>
            <a:r>
              <a:rPr lang="en-AU" sz="1600" dirty="0" err="1">
                <a:latin typeface="Aptos SemiBold" panose="020B0004020202020204" pitchFamily="34" charset="0"/>
              </a:rPr>
              <a:t>și</a:t>
            </a:r>
            <a:r>
              <a:rPr lang="en-AU" sz="1600" dirty="0">
                <a:latin typeface="Aptos SemiBold" panose="020B0004020202020204" pitchFamily="34" charset="0"/>
              </a:rPr>
              <a:t> </a:t>
            </a:r>
            <a:r>
              <a:rPr lang="en-AU" sz="1600" dirty="0" err="1">
                <a:latin typeface="Aptos SemiBold" panose="020B0004020202020204" pitchFamily="34" charset="0"/>
              </a:rPr>
              <a:t>verificarea</a:t>
            </a:r>
            <a:r>
              <a:rPr lang="en-AU" sz="1600" dirty="0">
                <a:latin typeface="Aptos SemiBold" panose="020B0004020202020204" pitchFamily="34" charset="0"/>
              </a:rPr>
              <a:t> </a:t>
            </a:r>
            <a:r>
              <a:rPr lang="en-AU" sz="1600" dirty="0" err="1">
                <a:latin typeface="Aptos SemiBold" panose="020B0004020202020204" pitchFamily="34" charset="0"/>
              </a:rPr>
              <a:t>soluțiilor</a:t>
            </a:r>
            <a:r>
              <a:rPr lang="en-AU" sz="1600" dirty="0">
                <a:latin typeface="Aptos SemiBold" panose="020B0004020202020204" pitchFamily="34" charset="0"/>
              </a:rPr>
              <a:t>.</a:t>
            </a:r>
            <a:endParaRPr sz="1600" dirty="0">
              <a:solidFill>
                <a:srgbClr val="123B68"/>
              </a:solidFill>
              <a:latin typeface="Aptos SemiBold" panose="020B0004020202020204" pitchFamily="34" charset="0"/>
              <a:ea typeface="Aptos"/>
              <a:cs typeface="Aptos"/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7CA5BFE1-2C3A-55C2-0CA0-509F7DCAE779}"/>
              </a:ext>
            </a:extLst>
          </p:cNvPr>
          <p:cNvSpPr>
            <a:spLocks noGrp="1"/>
          </p:cNvSpPr>
          <p:nvPr/>
        </p:nvSpPr>
        <p:spPr>
          <a:xfrm>
            <a:off x="6923210" y="4519578"/>
            <a:ext cx="2485410" cy="1960307"/>
          </a:xfrm>
          <a:prstGeom prst="roundRect">
            <a:avLst>
              <a:gd name="adj" fmla="val 10247"/>
            </a:avLst>
          </a:prstGeom>
          <a:solidFill>
            <a:srgbClr val="FFFFFF">
              <a:alpha val="90980"/>
            </a:srgbClr>
          </a:solidFill>
          <a:ln w="19050">
            <a:solidFill>
              <a:srgbClr val="9FD0EC"/>
            </a:solidFill>
            <a:prstDash val="solid"/>
          </a:ln>
        </p:spPr>
        <p:txBody>
          <a:bodyPr/>
          <a:lstStyle/>
          <a:p>
            <a:endParaRPr lang="en-AU" dirty="0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847AB699-00DB-BC4A-A373-7773E8373993}"/>
              </a:ext>
            </a:extLst>
          </p:cNvPr>
          <p:cNvSpPr>
            <a:spLocks noGrp="1"/>
          </p:cNvSpPr>
          <p:nvPr/>
        </p:nvSpPr>
        <p:spPr>
          <a:xfrm>
            <a:off x="7098347" y="4262249"/>
            <a:ext cx="2115471" cy="514657"/>
          </a:xfrm>
          <a:prstGeom prst="roundRect">
            <a:avLst>
              <a:gd name="adj" fmla="val 25000"/>
            </a:avLst>
          </a:prstGeom>
          <a:solidFill>
            <a:srgbClr val="0070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38100" rIns="95250" bIns="38100" anchor="ctr"/>
          <a:lstStyle/>
          <a:p>
            <a:pPr algn="ctr"/>
            <a:r>
              <a:rPr lang="en-AU" sz="1600" b="1" dirty="0">
                <a:solidFill>
                  <a:schemeClr val="bg1"/>
                </a:solidFill>
              </a:rPr>
              <a:t>Feedback </a:t>
            </a:r>
            <a:r>
              <a:rPr lang="en-AU" sz="1600" b="1" dirty="0" err="1">
                <a:solidFill>
                  <a:schemeClr val="bg1"/>
                </a:solidFill>
              </a:rPr>
              <a:t>educativ</a:t>
            </a:r>
            <a:endParaRPr lang="en-AU" sz="1600" b="1" dirty="0">
              <a:solidFill>
                <a:schemeClr val="bg1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3159A63-332C-0333-2E33-BAE6B623CD7D}"/>
              </a:ext>
            </a:extLst>
          </p:cNvPr>
          <p:cNvSpPr>
            <a:spLocks noGrp="1"/>
          </p:cNvSpPr>
          <p:nvPr/>
        </p:nvSpPr>
        <p:spPr>
          <a:xfrm>
            <a:off x="7023760" y="5098458"/>
            <a:ext cx="2284310" cy="146923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SzPct val="100000"/>
            </a:pPr>
            <a:r>
              <a:rPr lang="en-AU" sz="1600" dirty="0" err="1">
                <a:latin typeface="Aptos SemiBold" panose="020B0004020202020204" pitchFamily="34" charset="0"/>
              </a:rPr>
              <a:t>Integrarea</a:t>
            </a:r>
            <a:r>
              <a:rPr lang="en-AU" sz="1600" dirty="0">
                <a:latin typeface="Aptos SemiBold" panose="020B0004020202020204" pitchFamily="34" charset="0"/>
              </a:rPr>
              <a:t> feedback-</a:t>
            </a:r>
            <a:r>
              <a:rPr lang="en-AU" sz="1600" dirty="0" err="1">
                <a:latin typeface="Aptos SemiBold" panose="020B0004020202020204" pitchFamily="34" charset="0"/>
              </a:rPr>
              <a:t>ului</a:t>
            </a:r>
            <a:r>
              <a:rPr lang="en-AU" sz="1600" dirty="0">
                <a:latin typeface="Aptos SemiBold" panose="020B0004020202020204" pitchFamily="34" charset="0"/>
              </a:rPr>
              <a:t> </a:t>
            </a:r>
            <a:r>
              <a:rPr lang="en-AU" sz="1600" dirty="0" err="1">
                <a:latin typeface="Aptos SemiBold" panose="020B0004020202020204" pitchFamily="34" charset="0"/>
              </a:rPr>
              <a:t>vizual</a:t>
            </a:r>
            <a:r>
              <a:rPr lang="en-AU" sz="1600" dirty="0">
                <a:latin typeface="Aptos SemiBold" panose="020B0004020202020204" pitchFamily="34" charset="0"/>
              </a:rPr>
              <a:t>/audio </a:t>
            </a:r>
            <a:r>
              <a:rPr lang="en-AU" sz="1600" dirty="0" err="1">
                <a:latin typeface="Aptos SemiBold" panose="020B0004020202020204" pitchFamily="34" charset="0"/>
              </a:rPr>
              <a:t>și</a:t>
            </a:r>
            <a:r>
              <a:rPr lang="en-AU" sz="1600" dirty="0">
                <a:latin typeface="Aptos SemiBold" panose="020B0004020202020204" pitchFamily="34" charset="0"/>
              </a:rPr>
              <a:t> a </a:t>
            </a:r>
            <a:r>
              <a:rPr lang="en-AU" sz="1600" dirty="0" err="1">
                <a:latin typeface="Aptos SemiBold" panose="020B0004020202020204" pitchFamily="34" charset="0"/>
              </a:rPr>
              <a:t>panourilor</a:t>
            </a:r>
            <a:r>
              <a:rPr lang="en-AU" sz="1600" dirty="0">
                <a:latin typeface="Aptos SemiBold" panose="020B0004020202020204" pitchFamily="34" charset="0"/>
              </a:rPr>
              <a:t> informative.</a:t>
            </a:r>
            <a:endParaRPr sz="1600" dirty="0">
              <a:solidFill>
                <a:srgbClr val="123B68"/>
              </a:solidFill>
              <a:latin typeface="Aptos SemiBold" panose="020B0004020202020204" pitchFamily="34" charset="0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636416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05D243F-3264-4619-AF9E-66283E8F21F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C1FA85-8E3D-4CE2-A92C-70C6BE9219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23950"/>
          </a:xfrm>
          <a:prstGeom prst="rect">
            <a:avLst/>
          </a:prstGeom>
          <a:solidFill>
            <a:srgbClr val="123B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ECF5F6-E914-46A4-ADE9-7762FBC0AFF8}"/>
              </a:ext>
            </a:extLst>
          </p:cNvPr>
          <p:cNvSpPr>
            <a:spLocks noGrp="1"/>
          </p:cNvSpPr>
          <p:nvPr/>
        </p:nvSpPr>
        <p:spPr>
          <a:xfrm>
            <a:off x="0" y="1123950"/>
            <a:ext cx="12192000" cy="76200"/>
          </a:xfrm>
          <a:prstGeom prst="rect">
            <a:avLst/>
          </a:prstGeom>
          <a:solidFill>
            <a:srgbClr val="F28B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B29746-72AC-4AA5-A18D-8829BA8E2B6B}"/>
              </a:ext>
            </a:extLst>
          </p:cNvPr>
          <p:cNvSpPr>
            <a:spLocks noGrp="1"/>
          </p:cNvSpPr>
          <p:nvPr/>
        </p:nvSpPr>
        <p:spPr>
          <a:xfrm>
            <a:off x="11153715" y="0"/>
            <a:ext cx="1047750" cy="6858000"/>
          </a:xfrm>
          <a:prstGeom prst="rect">
            <a:avLst/>
          </a:prstGeom>
          <a:solidFill>
            <a:srgbClr val="EAF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8F3767-FE03-4FFC-8465-5CB74B21ADDB}"/>
              </a:ext>
            </a:extLst>
          </p:cNvPr>
          <p:cNvSpPr>
            <a:spLocks noGrp="1"/>
          </p:cNvSpPr>
          <p:nvPr/>
        </p:nvSpPr>
        <p:spPr>
          <a:xfrm>
            <a:off x="11287065" y="0"/>
            <a:ext cx="47625" cy="6858000"/>
          </a:xfrm>
          <a:prstGeom prst="rect">
            <a:avLst/>
          </a:prstGeom>
          <a:solidFill>
            <a:srgbClr val="3EA7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756F2C-0304-4FD9-9231-36D14A861E8E}"/>
              </a:ext>
            </a:extLst>
          </p:cNvPr>
          <p:cNvSpPr>
            <a:spLocks noGrp="1"/>
          </p:cNvSpPr>
          <p:nvPr/>
        </p:nvSpPr>
        <p:spPr>
          <a:xfrm>
            <a:off x="11572815" y="0"/>
            <a:ext cx="47625" cy="6858000"/>
          </a:xfrm>
          <a:prstGeom prst="rect">
            <a:avLst/>
          </a:prstGeom>
          <a:solidFill>
            <a:srgbClr val="FFB1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74D4E5-91ED-425F-8CDE-153C1505B2FD}"/>
              </a:ext>
            </a:extLst>
          </p:cNvPr>
          <p:cNvSpPr>
            <a:spLocks noGrp="1"/>
          </p:cNvSpPr>
          <p:nvPr/>
        </p:nvSpPr>
        <p:spPr>
          <a:xfrm>
            <a:off x="10410765" y="5962650"/>
            <a:ext cx="2190750" cy="28575"/>
          </a:xfrm>
          <a:prstGeom prst="rect">
            <a:avLst/>
          </a:prstGeom>
          <a:solidFill>
            <a:srgbClr val="FFB1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B3FCB1-BDE0-4997-8117-C0EA7D7A6B86}"/>
              </a:ext>
            </a:extLst>
          </p:cNvPr>
          <p:cNvSpPr>
            <a:spLocks noGrp="1"/>
          </p:cNvSpPr>
          <p:nvPr/>
        </p:nvSpPr>
        <p:spPr>
          <a:xfrm>
            <a:off x="10696515" y="6191250"/>
            <a:ext cx="1847850" cy="28575"/>
          </a:xfrm>
          <a:prstGeom prst="rect">
            <a:avLst/>
          </a:prstGeom>
          <a:solidFill>
            <a:srgbClr val="3EA7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13F914-5F3B-4FA7-9052-A32DAEF06ECE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B1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B15F"/>
                </a:solidFill>
                <a:latin typeface="Aptos"/>
                <a:ea typeface="Aptos"/>
                <a:cs typeface="Aptos"/>
              </a:rPr>
              <a:t>CODESCAPE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B8CDA4-48F4-4712-82F7-9063BE0F843E}"/>
              </a:ext>
            </a:extLst>
          </p:cNvPr>
          <p:cNvSpPr>
            <a:spLocks noGrp="1"/>
          </p:cNvSpPr>
          <p:nvPr/>
        </p:nvSpPr>
        <p:spPr>
          <a:xfrm>
            <a:off x="514350" y="523875"/>
            <a:ext cx="833437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75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Concluzi</a:t>
            </a:r>
            <a:r>
              <a:rPr lang="ro-RO" sz="2475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</a:t>
            </a:r>
            <a:endParaRPr sz="2475" b="1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BFEC45-001A-4280-A36E-0EC7B865EAF7}"/>
              </a:ext>
            </a:extLst>
          </p:cNvPr>
          <p:cNvSpPr>
            <a:spLocks noGrp="1"/>
          </p:cNvSpPr>
          <p:nvPr/>
        </p:nvSpPr>
        <p:spPr>
          <a:xfrm>
            <a:off x="10572750" y="6419850"/>
            <a:ext cx="819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41607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16071"/>
                </a:solidFill>
                <a:latin typeface="Aptos"/>
                <a:ea typeface="Aptos"/>
                <a:cs typeface="Aptos"/>
              </a:rPr>
              <a:t>12/12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86E1694-A5C5-44AB-9478-DA20DEFD93E6}"/>
              </a:ext>
            </a:extLst>
          </p:cNvPr>
          <p:cNvSpPr>
            <a:spLocks noGrp="1"/>
          </p:cNvSpPr>
          <p:nvPr/>
        </p:nvSpPr>
        <p:spPr>
          <a:xfrm>
            <a:off x="650747" y="1561326"/>
            <a:ext cx="9011413" cy="2085976"/>
          </a:xfrm>
          <a:prstGeom prst="roundRect">
            <a:avLst>
              <a:gd name="adj" fmla="val 2222"/>
            </a:avLst>
          </a:prstGeom>
          <a:solidFill>
            <a:srgbClr val="FFFFFF">
              <a:alpha val="90980"/>
            </a:srgbClr>
          </a:solidFill>
          <a:ln w="11430">
            <a:solidFill>
              <a:srgbClr val="9FD0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35C36A-9C09-4113-9521-7A7EEF84B1EF}"/>
              </a:ext>
            </a:extLst>
          </p:cNvPr>
          <p:cNvSpPr>
            <a:spLocks noGrp="1"/>
          </p:cNvSpPr>
          <p:nvPr/>
        </p:nvSpPr>
        <p:spPr>
          <a:xfrm>
            <a:off x="964862" y="1945877"/>
            <a:ext cx="104775" cy="104775"/>
          </a:xfrm>
          <a:prstGeom prst="rect">
            <a:avLst/>
          </a:prstGeom>
          <a:solidFill>
            <a:srgbClr val="1E6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577E0F-1233-42AD-B541-79C30A977B9F}"/>
              </a:ext>
            </a:extLst>
          </p:cNvPr>
          <p:cNvSpPr>
            <a:spLocks noGrp="1"/>
          </p:cNvSpPr>
          <p:nvPr/>
        </p:nvSpPr>
        <p:spPr>
          <a:xfrm>
            <a:off x="964862" y="2536427"/>
            <a:ext cx="104775" cy="104775"/>
          </a:xfrm>
          <a:prstGeom prst="rect">
            <a:avLst/>
          </a:prstGeom>
          <a:solidFill>
            <a:srgbClr val="F28B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8E40FD5-7980-F897-D4F2-2B7D21771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744161" y="123372"/>
            <a:ext cx="2290523" cy="783072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C7168B8C-F094-ABF2-3461-6B1729AF6362}"/>
              </a:ext>
            </a:extLst>
          </p:cNvPr>
          <p:cNvSpPr>
            <a:spLocks noGrp="1"/>
          </p:cNvSpPr>
          <p:nvPr/>
        </p:nvSpPr>
        <p:spPr>
          <a:xfrm>
            <a:off x="964862" y="3177674"/>
            <a:ext cx="104775" cy="104775"/>
          </a:xfrm>
          <a:prstGeom prst="rect">
            <a:avLst/>
          </a:prstGeom>
          <a:solidFill>
            <a:srgbClr val="1E6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185ED5A-D25A-8665-7931-7C9D452896C8}"/>
              </a:ext>
            </a:extLst>
          </p:cNvPr>
          <p:cNvSpPr>
            <a:spLocks noGrp="1"/>
          </p:cNvSpPr>
          <p:nvPr/>
        </p:nvSpPr>
        <p:spPr>
          <a:xfrm>
            <a:off x="6398686" y="3825937"/>
            <a:ext cx="4562610" cy="2628733"/>
          </a:xfrm>
          <a:prstGeom prst="roundRect">
            <a:avLst>
              <a:gd name="adj" fmla="val 3376"/>
            </a:avLst>
          </a:prstGeom>
          <a:solidFill>
            <a:srgbClr val="FFFFFF"/>
          </a:solidFill>
          <a:ln w="11430">
            <a:solidFill>
              <a:srgbClr val="7EBDE2"/>
            </a:solidFill>
            <a:prstDash val="solid"/>
          </a:ln>
        </p:spPr>
        <p:txBody>
          <a:bodyPr/>
          <a:lstStyle/>
          <a:p>
            <a:endParaRPr lang="en-AU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B6AA304-7296-495D-6FF2-2EC793607E7E}"/>
              </a:ext>
            </a:extLst>
          </p:cNvPr>
          <p:cNvSpPr txBox="1"/>
          <p:nvPr/>
        </p:nvSpPr>
        <p:spPr>
          <a:xfrm>
            <a:off x="5629533" y="6478184"/>
            <a:ext cx="61009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o-RO" sz="1200" dirty="0">
                <a:solidFill>
                  <a:srgbClr val="123B68"/>
                </a:solidFill>
                <a:latin typeface="Aptos"/>
              </a:rPr>
              <a:t>Ecran final</a:t>
            </a:r>
            <a:endParaRPr lang="en-US" sz="1200" dirty="0">
              <a:solidFill>
                <a:srgbClr val="123B68"/>
              </a:solidFill>
              <a:latin typeface="Aptos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93339F5A-0580-58E2-09C0-83C432B0A8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" b="85"/>
          <a:stretch/>
        </p:blipFill>
        <p:spPr>
          <a:xfrm>
            <a:off x="6512862" y="3936425"/>
            <a:ext cx="4315083" cy="2423084"/>
          </a:xfrm>
          <a:prstGeom prst="roundRect">
            <a:avLst>
              <a:gd name="adj" fmla="val 2740"/>
            </a:avLst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672CD1F-BB77-9C73-17C9-8235C35432D8}"/>
              </a:ext>
            </a:extLst>
          </p:cNvPr>
          <p:cNvSpPr>
            <a:spLocks noGrp="1"/>
          </p:cNvSpPr>
          <p:nvPr/>
        </p:nvSpPr>
        <p:spPr>
          <a:xfrm>
            <a:off x="577645" y="4142771"/>
            <a:ext cx="833437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ro-RO" sz="2000" b="1" dirty="0">
                <a:solidFill>
                  <a:srgbClr val="123B68"/>
                </a:solidFill>
                <a:latin typeface="Aptos"/>
                <a:ea typeface="Aptos"/>
                <a:cs typeface="Aptos"/>
              </a:rPr>
              <a:t>Dezvoltări viitoare</a:t>
            </a:r>
            <a:endParaRPr sz="2000" b="1" dirty="0">
              <a:solidFill>
                <a:srgbClr val="123B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98D771C-E321-8AA8-05A3-02D3CC7A25CA}"/>
              </a:ext>
            </a:extLst>
          </p:cNvPr>
          <p:cNvSpPr>
            <a:spLocks noGrp="1"/>
          </p:cNvSpPr>
          <p:nvPr/>
        </p:nvSpPr>
        <p:spPr>
          <a:xfrm>
            <a:off x="650748" y="4841791"/>
            <a:ext cx="5455614" cy="1149434"/>
          </a:xfrm>
          <a:prstGeom prst="roundRect">
            <a:avLst>
              <a:gd name="adj" fmla="val 2222"/>
            </a:avLst>
          </a:prstGeom>
          <a:solidFill>
            <a:srgbClr val="FFFFFF">
              <a:alpha val="90980"/>
            </a:srgbClr>
          </a:solidFill>
          <a:ln w="11430">
            <a:solidFill>
              <a:srgbClr val="9FD0EC"/>
            </a:solidFill>
            <a:prstDash val="solid"/>
          </a:ln>
        </p:spPr>
        <p:txBody>
          <a:bodyPr/>
          <a:lstStyle/>
          <a:p>
            <a:endParaRPr lang="en-AU" sz="1600" dirty="0">
              <a:solidFill>
                <a:srgbClr val="142033"/>
              </a:solidFill>
              <a:latin typeface="Apto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93A6CC5-39C3-0D6C-DF39-C1C6ED6D6BC6}"/>
              </a:ext>
            </a:extLst>
          </p:cNvPr>
          <p:cNvSpPr>
            <a:spLocks noGrp="1"/>
          </p:cNvSpPr>
          <p:nvPr/>
        </p:nvSpPr>
        <p:spPr>
          <a:xfrm>
            <a:off x="879021" y="5125332"/>
            <a:ext cx="104775" cy="104775"/>
          </a:xfrm>
          <a:prstGeom prst="rect">
            <a:avLst/>
          </a:prstGeom>
          <a:solidFill>
            <a:srgbClr val="F28B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65FC421-2D0C-C440-0B72-875B25A64F80}"/>
              </a:ext>
            </a:extLst>
          </p:cNvPr>
          <p:cNvSpPr>
            <a:spLocks noGrp="1"/>
          </p:cNvSpPr>
          <p:nvPr/>
        </p:nvSpPr>
        <p:spPr>
          <a:xfrm>
            <a:off x="877267" y="5544950"/>
            <a:ext cx="104775" cy="104775"/>
          </a:xfrm>
          <a:prstGeom prst="rect">
            <a:avLst/>
          </a:prstGeom>
          <a:solidFill>
            <a:srgbClr val="1E6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5E90E64-7693-A5FA-F81C-18CDDCDFDC57}"/>
              </a:ext>
            </a:extLst>
          </p:cNvPr>
          <p:cNvSpPr>
            <a:spLocks noGrp="1"/>
          </p:cNvSpPr>
          <p:nvPr/>
        </p:nvSpPr>
        <p:spPr>
          <a:xfrm>
            <a:off x="1262056" y="1854413"/>
            <a:ext cx="7713238" cy="38902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SzPct val="100000"/>
            </a:pPr>
            <a:r>
              <a:rPr lang="ro-RO" dirty="0"/>
              <a:t>aplicația include cinci niveluri educative asociate cu concepte de programare</a:t>
            </a:r>
            <a:endParaRPr lang="ro-RO" dirty="0">
              <a:ea typeface="Aptos"/>
              <a:cs typeface="Aptos"/>
            </a:endParaRPr>
          </a:p>
          <a:p>
            <a:pPr algn="ctr">
              <a:buSzPct val="100000"/>
            </a:pPr>
            <a:endParaRPr dirty="0">
              <a:solidFill>
                <a:srgbClr val="123B68"/>
              </a:solidFill>
              <a:ea typeface="Aptos"/>
              <a:cs typeface="Apto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0A318A4-8491-A3E5-27EC-A03E9E8EDA2B}"/>
              </a:ext>
            </a:extLst>
          </p:cNvPr>
          <p:cNvSpPr>
            <a:spLocks noGrp="1"/>
          </p:cNvSpPr>
          <p:nvPr/>
        </p:nvSpPr>
        <p:spPr>
          <a:xfrm>
            <a:off x="964862" y="2454969"/>
            <a:ext cx="7713238" cy="38902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SzPct val="100000"/>
            </a:pPr>
            <a:r>
              <a:rPr lang="ro-RO" dirty="0"/>
              <a:t>f</a:t>
            </a:r>
            <a:r>
              <a:rPr lang="en-AU" dirty="0" err="1"/>
              <a:t>eedback</a:t>
            </a:r>
            <a:r>
              <a:rPr lang="en-AU" dirty="0"/>
              <a:t>-ul </a:t>
            </a:r>
            <a:r>
              <a:rPr lang="en-AU" dirty="0" err="1"/>
              <a:t>vizual</a:t>
            </a:r>
            <a:r>
              <a:rPr lang="en-AU" dirty="0"/>
              <a:t> </a:t>
            </a:r>
            <a:r>
              <a:rPr lang="en-AU" dirty="0" err="1"/>
              <a:t>și</a:t>
            </a:r>
            <a:r>
              <a:rPr lang="en-AU" dirty="0"/>
              <a:t> audio </a:t>
            </a:r>
            <a:r>
              <a:rPr lang="en-AU" dirty="0" err="1"/>
              <a:t>ajută</a:t>
            </a:r>
            <a:r>
              <a:rPr lang="en-AU" dirty="0"/>
              <a:t> </a:t>
            </a:r>
            <a:r>
              <a:rPr lang="en-AU" dirty="0" err="1"/>
              <a:t>utilizatorul</a:t>
            </a:r>
            <a:r>
              <a:rPr lang="en-AU" dirty="0"/>
              <a:t> </a:t>
            </a:r>
            <a:r>
              <a:rPr lang="en-AU" dirty="0" err="1"/>
              <a:t>să</a:t>
            </a:r>
            <a:r>
              <a:rPr lang="en-AU" dirty="0"/>
              <a:t> </a:t>
            </a:r>
            <a:r>
              <a:rPr lang="en-AU" dirty="0" err="1"/>
              <a:t>înțeleagă</a:t>
            </a:r>
            <a:r>
              <a:rPr lang="en-AU" dirty="0"/>
              <a:t> rapid </a:t>
            </a:r>
            <a:r>
              <a:rPr lang="en-AU" dirty="0" err="1"/>
              <a:t>rezultatul</a:t>
            </a:r>
            <a:endParaRPr lang="en-AU" dirty="0">
              <a:solidFill>
                <a:srgbClr val="142033"/>
              </a:solidFill>
              <a:ea typeface="Aptos"/>
              <a:cs typeface="Aptos"/>
            </a:endParaRPr>
          </a:p>
          <a:p>
            <a:pPr algn="ctr">
              <a:buSzPct val="100000"/>
            </a:pPr>
            <a:endParaRPr lang="ro-RO" dirty="0">
              <a:ea typeface="Aptos"/>
              <a:cs typeface="Aptos"/>
            </a:endParaRPr>
          </a:p>
          <a:p>
            <a:pPr algn="ctr">
              <a:buSzPct val="100000"/>
            </a:pPr>
            <a:endParaRPr dirty="0">
              <a:solidFill>
                <a:srgbClr val="123B68"/>
              </a:solidFill>
              <a:ea typeface="Aptos"/>
              <a:cs typeface="Apto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1DAD6F1-5B39-17E9-2D22-50009E724C61}"/>
              </a:ext>
            </a:extLst>
          </p:cNvPr>
          <p:cNvSpPr>
            <a:spLocks noGrp="1"/>
          </p:cNvSpPr>
          <p:nvPr/>
        </p:nvSpPr>
        <p:spPr>
          <a:xfrm>
            <a:off x="-58984" y="3074946"/>
            <a:ext cx="7713238" cy="44111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SzPct val="100000"/>
            </a:pPr>
            <a:r>
              <a:rPr lang="ro-RO" dirty="0"/>
              <a:t>structura modulară permite extinderea proiectului.</a:t>
            </a:r>
            <a:endParaRPr lang="ro-RO" dirty="0">
              <a:ea typeface="Aptos"/>
              <a:cs typeface="Aptos"/>
            </a:endParaRPr>
          </a:p>
          <a:p>
            <a:pPr algn="ctr">
              <a:buSzPct val="100000"/>
            </a:pPr>
            <a:endParaRPr lang="ro-RO" dirty="0">
              <a:ea typeface="Aptos"/>
              <a:cs typeface="Aptos"/>
            </a:endParaRPr>
          </a:p>
          <a:p>
            <a:pPr algn="ctr">
              <a:buSzPct val="100000"/>
            </a:pPr>
            <a:endParaRPr dirty="0">
              <a:solidFill>
                <a:srgbClr val="123B68"/>
              </a:solidFill>
              <a:ea typeface="Aptos"/>
              <a:cs typeface="Apto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1751087-CBBF-B3B2-54EC-5AE070834079}"/>
              </a:ext>
            </a:extLst>
          </p:cNvPr>
          <p:cNvSpPr>
            <a:spLocks noGrp="1"/>
          </p:cNvSpPr>
          <p:nvPr/>
        </p:nvSpPr>
        <p:spPr>
          <a:xfrm>
            <a:off x="-401854" y="5024079"/>
            <a:ext cx="7713238" cy="40948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SzPct val="100000"/>
            </a:pPr>
            <a:r>
              <a:rPr lang="ro-RO" dirty="0"/>
              <a:t>niveluri suplimentare cu dificultate adaptivă</a:t>
            </a:r>
            <a:endParaRPr lang="ro-RO" dirty="0">
              <a:ea typeface="Aptos"/>
              <a:cs typeface="Aptos"/>
            </a:endParaRPr>
          </a:p>
          <a:p>
            <a:pPr algn="ctr">
              <a:buSzPct val="100000"/>
            </a:pPr>
            <a:endParaRPr lang="ro-RO" dirty="0">
              <a:ea typeface="Aptos"/>
              <a:cs typeface="Aptos"/>
            </a:endParaRPr>
          </a:p>
          <a:p>
            <a:pPr algn="ctr">
              <a:buSzPct val="100000"/>
            </a:pPr>
            <a:endParaRPr dirty="0">
              <a:solidFill>
                <a:srgbClr val="123B68"/>
              </a:solidFill>
              <a:ea typeface="Aptos"/>
              <a:cs typeface="Apto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DA060FB-AA01-8891-BA7A-4D62681FC4E8}"/>
              </a:ext>
            </a:extLst>
          </p:cNvPr>
          <p:cNvSpPr>
            <a:spLocks noGrp="1"/>
          </p:cNvSpPr>
          <p:nvPr/>
        </p:nvSpPr>
        <p:spPr>
          <a:xfrm>
            <a:off x="-322781" y="5452877"/>
            <a:ext cx="7713238" cy="44111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SzPct val="100000"/>
            </a:pPr>
            <a:r>
              <a:rPr lang="it-IT" dirty="0"/>
              <a:t>statistici de progres și evaluare a performanței</a:t>
            </a:r>
            <a:endParaRPr lang="it-IT" dirty="0">
              <a:ea typeface="Aptos"/>
              <a:cs typeface="Aptos"/>
            </a:endParaRPr>
          </a:p>
          <a:p>
            <a:pPr algn="ctr">
              <a:buSzPct val="100000"/>
            </a:pPr>
            <a:endParaRPr lang="ro-RO" dirty="0">
              <a:ea typeface="Aptos"/>
              <a:cs typeface="Aptos"/>
            </a:endParaRPr>
          </a:p>
          <a:p>
            <a:pPr algn="ctr">
              <a:buSzPct val="100000"/>
            </a:pPr>
            <a:endParaRPr lang="ro-RO" dirty="0">
              <a:ea typeface="Aptos"/>
              <a:cs typeface="Aptos"/>
            </a:endParaRPr>
          </a:p>
          <a:p>
            <a:pPr algn="ctr">
              <a:buSzPct val="100000"/>
            </a:pPr>
            <a:endParaRPr lang="ro-RO" dirty="0">
              <a:ea typeface="Aptos"/>
              <a:cs typeface="Aptos"/>
            </a:endParaRPr>
          </a:p>
          <a:p>
            <a:pPr algn="ctr">
              <a:buSzPct val="100000"/>
            </a:pPr>
            <a:endParaRPr dirty="0">
              <a:solidFill>
                <a:srgbClr val="123B68"/>
              </a:solidFill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987894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542</TotalTime>
  <Words>654</Words>
  <Application>Microsoft Office PowerPoint</Application>
  <PresentationFormat>Widescreen</PresentationFormat>
  <Paragraphs>139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Aptos SemiBold</vt:lpstr>
      <vt:lpstr>Arial</vt:lpstr>
      <vt:lpstr>Consolas</vt:lpstr>
      <vt:lpstr>Office Theme</vt:lpstr>
      <vt:lpstr>CodeScape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Adelina-Simina Jurca</dc:creator>
  <cp:lastModifiedBy>Adelina-Simina Jurca</cp:lastModifiedBy>
  <cp:revision>21</cp:revision>
  <dcterms:created xsi:type="dcterms:W3CDTF">2026-06-02T12:50:24Z</dcterms:created>
  <dcterms:modified xsi:type="dcterms:W3CDTF">2026-06-17T14:56:14Z</dcterms:modified>
</cp:coreProperties>
</file>